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PROJETO QAI • X-TESTING &amp; SANASA</a:t>
            </a:r>
          </a:p>
          <a:p>
            <a:pPr>
              <a:defRPr sz="2600" b="1">
                <a:solidFill>
                  <a:srgbClr val="0F172A"/>
                </a:solidFill>
              </a:defRPr>
            </a:pPr>
            <a:r>
              <a:t>Key Objectives &amp; Estratégia de Fases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Evolução da operação de testes manuais para esteira autônoma com agentes de IA (OpenClaw + Paperclip)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993392"/>
            <a:ext cx="109728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FASE 01</a:t>
            </a:r>
          </a:p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</a:defRPr>
            </a:pPr>
            <a:r>
              <a:t>WEB: Testes Manuais</a:t>
            </a:r>
          </a:p>
          <a:p>
            <a:pPr>
              <a:spcAft>
                <a:spcPts val="1000"/>
              </a:spcAft>
              <a:defRPr sz="850" b="1">
                <a:solidFill>
                  <a:srgbClr val="EA580C"/>
                </a:solidFill>
              </a:defRPr>
            </a:pPr>
            <a:r>
              <a:t>EM ANDAMENTO • BASELINE</a:t>
            </a:r>
          </a:p>
          <a:p>
            <a:pPr>
              <a:spcAft>
                <a:spcPts val="1400"/>
              </a:spcAft>
              <a:defRPr sz="1050">
                <a:solidFill>
                  <a:srgbClr val="64748B"/>
                </a:solidFill>
              </a:defRPr>
            </a:pPr>
            <a:r>
              <a:t>Espelhamento dos papéis operacionais e automação do suporte à execução manual.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Extração estruturada de requisitos (Tree-RAG / PageIndex)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Geração de fluxos e regras em BPMN via skill especializada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Elaboração automatizada de Casos de Teste (TestLink)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Triagem e pré-preenchimento de defeitos (Mantis)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82880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90288" y="1993392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21488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FASE 02</a:t>
            </a:r>
          </a:p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</a:defRPr>
            </a:pPr>
            <a:r>
              <a:t>WEB: Integração &amp; Aceitação</a:t>
            </a:r>
          </a:p>
          <a:p>
            <a:pPr>
              <a:spcAft>
                <a:spcPts val="1000"/>
              </a:spcAft>
              <a:defRPr sz="850" b="1">
                <a:solidFill>
                  <a:srgbClr val="2563EB"/>
                </a:solidFill>
              </a:defRPr>
            </a:pPr>
            <a:r>
              <a:t>PLANEJADA • SEQUENCIAL</a:t>
            </a:r>
          </a:p>
          <a:p>
            <a:pPr>
              <a:spcAft>
                <a:spcPts val="1400"/>
              </a:spcAft>
              <a:defRPr sz="1050">
                <a:solidFill>
                  <a:srgbClr val="64748B"/>
                </a:solidFill>
              </a:defRPr>
            </a:pPr>
            <a:r>
              <a:t>Automação E2E com execução autônoma no navegador e evidências rastreáveis.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Execução agêntica via Playwright / Camoufox (Ultra Browser)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Validação de integração de APIs e regras de negócio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Geração de evidências com prints e vídeos por passo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Pipeline de regressão contínua integrada ao CI/CD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2880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66176" y="1993392"/>
            <a:ext cx="1097280" cy="54864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6" y="214884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33EA"/>
                </a:solidFill>
              </a:defRPr>
            </a:pPr>
            <a:r>
              <a:t>FASE 03</a:t>
            </a:r>
          </a:p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</a:defRPr>
            </a:pPr>
            <a:r>
              <a:t>MOBILE: Todos os Anteriores</a:t>
            </a:r>
          </a:p>
          <a:p>
            <a:pPr>
              <a:spcAft>
                <a:spcPts val="1000"/>
              </a:spcAft>
              <a:defRPr sz="850" b="1">
                <a:solidFill>
                  <a:srgbClr val="9333EA"/>
                </a:solidFill>
              </a:defRPr>
            </a:pPr>
            <a:r>
              <a:t>CONDICIONAL • PÓS-WEB</a:t>
            </a:r>
          </a:p>
          <a:p>
            <a:pPr>
              <a:spcAft>
                <a:spcPts val="1400"/>
              </a:spcAft>
              <a:defRPr sz="1050">
                <a:solidFill>
                  <a:srgbClr val="64748B"/>
                </a:solidFill>
              </a:defRPr>
            </a:pPr>
            <a:r>
              <a:t>Transposição do ecossistema agêntico completo para aplicações mobile nativas.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Início condicionado ao término das Fases 01 e 02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Testes funcionais, usabilidade e fluxos de tela nativos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Integração e testes de aceitação em Android/iOS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 Automação agêntica em dispositivos reais e emuladores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PROJETO QAI • X-TESTING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Product Stages Roadmap (Setembro - Dezembro 2026)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16459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Our Approach</a:t>
            </a:r>
          </a:p>
        </p:txBody>
      </p:sp>
      <p:sp>
        <p:nvSpPr>
          <p:cNvPr id="5" name="Chevron 4"/>
          <p:cNvSpPr/>
          <p:nvPr/>
        </p:nvSpPr>
        <p:spPr>
          <a:xfrm>
            <a:off x="2560320" y="1554480"/>
            <a:ext cx="1645920" cy="640080"/>
          </a:xfrm>
          <a:prstGeom prst="chevron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1. Setembro 2026</a:t>
            </a:r>
          </a:p>
        </p:txBody>
      </p:sp>
      <p:sp>
        <p:nvSpPr>
          <p:cNvPr id="6" name="Chevron 5"/>
          <p:cNvSpPr/>
          <p:nvPr/>
        </p:nvSpPr>
        <p:spPr>
          <a:xfrm>
            <a:off x="4937760" y="1554480"/>
            <a:ext cx="2240280" cy="640080"/>
          </a:xfrm>
          <a:prstGeom prst="chevron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2. Outubro 2026</a:t>
            </a:r>
          </a:p>
        </p:txBody>
      </p:sp>
      <p:sp>
        <p:nvSpPr>
          <p:cNvPr id="7" name="Chevron 6"/>
          <p:cNvSpPr/>
          <p:nvPr/>
        </p:nvSpPr>
        <p:spPr>
          <a:xfrm>
            <a:off x="7315200" y="1554480"/>
            <a:ext cx="2240280" cy="640080"/>
          </a:xfrm>
          <a:prstGeom prst="chevron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3. Novembro 2026</a:t>
            </a:r>
          </a:p>
        </p:txBody>
      </p:sp>
      <p:sp>
        <p:nvSpPr>
          <p:cNvPr id="8" name="Chevron 7"/>
          <p:cNvSpPr/>
          <p:nvPr/>
        </p:nvSpPr>
        <p:spPr>
          <a:xfrm>
            <a:off x="9692640" y="1554480"/>
            <a:ext cx="2240280" cy="640080"/>
          </a:xfrm>
          <a:prstGeom prst="chevron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4. Dezembro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645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293B"/>
                </a:solidFill>
              </a:defRPr>
            </a:pPr>
            <a:r>
              <a:t>Strategic</a:t>
            </a:r>
            <a:br/>
            <a:r>
              <a:t>Objectives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286000"/>
            <a:ext cx="1645920" cy="1371600"/>
          </a:xfrm>
          <a:prstGeom prst="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Instalar Paperclip &amp; estruturar XTE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Baseline agêntico com QAI (CEO)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Rastreabilidade sem chunking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286000"/>
            <a:ext cx="22402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Operar WEB Testes Manuais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Automatizar geração de TC / Mantis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Integrar conectores ALM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2286000"/>
            <a:ext cx="22402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Automação WEB Integração/E2E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Execução autônoma Playwright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Validação contínua de regras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2286000"/>
            <a:ext cx="22402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Kickoff esteira MOBILE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Transpor skills para apps nativos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Homologação completa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49039"/>
            <a:ext cx="164592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293B"/>
                </a:solidFill>
              </a:defRPr>
            </a:pPr>
            <a:r>
              <a:t>Key</a:t>
            </a:r>
            <a:br/>
            <a:r>
              <a:t>Milestones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3749039"/>
            <a:ext cx="1645920" cy="1325880"/>
          </a:xfrm>
          <a:prstGeom prst="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Ambiente Paperclip 100% ativo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Tree-RAG SANASA indexado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Skill de BPMN validada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3749039"/>
            <a:ext cx="2240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1º Ciclo de testes gerado por IA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Geração de CTs no TestLink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Validação com time SANASA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749039"/>
            <a:ext cx="2240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Bateria de testes E2E executada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Cobertura de regras críticas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Evidências visuais auditáveis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3749039"/>
            <a:ext cx="2240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Matriz de testes Mobile pronta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Execução emuladores/reais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Handover operacional 2027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166360"/>
            <a:ext cx="1645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293B"/>
                </a:solidFill>
              </a:defRPr>
            </a:pPr>
            <a:r>
              <a:t>Deliverables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5166360"/>
            <a:ext cx="1645920" cy="1371600"/>
          </a:xfrm>
          <a:prstGeom prst="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Planilha de Classificação / Riscos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sanasa-requirements-tree.json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Segmentos SSC no Memory Viewer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0" y="5166360"/>
            <a:ext cx="22402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Suíte TestLink gerada por IA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Relatório de aderência manual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Dashboards operacionais QAI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5166360"/>
            <a:ext cx="22402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Scripts Playwright automatizados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Pipeline de testes WEB ativa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Relatórios de bugs no Mantis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5166360"/>
            <a:ext cx="22402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Suíte Mobile completa (Fase 3)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Relatório consolidado de KPIs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Manual operacional agêntico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PROJETO QAI • X-TESTING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Schedule Executivo &amp; Marcos de Progresso (Mês a Mês)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320040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Work Package / Trilha de Execução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554480"/>
            <a:ext cx="192024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SET/2026 (Atual)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554480"/>
            <a:ext cx="192024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OUT/2026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554480"/>
            <a:ext cx="1920240" cy="4572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NOV/2026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9840" y="1554480"/>
            <a:ext cx="192024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DEZ/2026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84832"/>
            <a:ext cx="32004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0F172A"/>
                </a:solidFill>
              </a:defRPr>
            </a:pPr>
            <a:r>
              <a:t>WP1 • Infraestrutura &amp; Paperclip</a:t>
            </a:r>
            <a:br/>
            <a:r>
              <a:t>Ambiente agêntico e governança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084832"/>
            <a:ext cx="1920240" cy="868680"/>
          </a:xfrm>
          <a:prstGeom prst="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100% CONCLUÍDO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Paperclip ativo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QAI configurado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2084832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Operação Contínua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Monitoramento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84832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Operação Contínua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Manutenção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49840" y="2084832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Operação Contínua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Governança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08376"/>
            <a:ext cx="32004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0F172A"/>
                </a:solidFill>
              </a:defRPr>
            </a:pPr>
            <a:r>
              <a:t>WP2 • Extração de Requisitos &amp; BPMN</a:t>
            </a:r>
            <a:br/>
            <a:r>
              <a:t>Tree-RAG sem chunking e modelagem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3008376"/>
            <a:ext cx="1920240" cy="868680"/>
          </a:xfrm>
          <a:prstGeom prst="rect">
            <a:avLst/>
          </a:prstGeom>
          <a:solidFill>
            <a:srgbClr val="DCFCE7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100% CONCLUÍDO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Árvore SANASA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Skill BPMN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008376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Refinamento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Novos fluxos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3008376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Suporte a E2E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Validação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49840" y="3008376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Migração p/ Mobile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Especificações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931920"/>
            <a:ext cx="32004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0F172A"/>
                </a:solidFill>
              </a:defRPr>
            </a:pPr>
            <a:r>
              <a:t>WP3 • FASE 1: WEB Testes Manuais</a:t>
            </a:r>
            <a:br/>
            <a:r>
              <a:t>Suporte IA para TestLink e Mantis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931920"/>
            <a:ext cx="1920240" cy="868680"/>
          </a:xfrm>
          <a:prstGeom prst="rect">
            <a:avLst/>
          </a:prstGeom>
          <a:solidFill>
            <a:srgbClr val="FEF3C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Em Andamento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Prioridades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Matriz de Riscos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931920"/>
            <a:ext cx="1920240" cy="868680"/>
          </a:xfrm>
          <a:prstGeom prst="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EXECUÇÃO PLENA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Suíte TestLink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Triagem Mantis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3931920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Estabilização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Homologação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40" y="3931920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Fase Concluída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Transição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855464"/>
            <a:ext cx="32004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0F172A"/>
                </a:solidFill>
              </a:defRPr>
            </a:pPr>
            <a:r>
              <a:t>WP4 • FASE 2: WEB Integração &amp; E2E</a:t>
            </a:r>
            <a:br/>
            <a:r>
              <a:t>Automação autônoma Playwright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855464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Planejamento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Spike arquitetura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855464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Desenvolvimento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Conectores E2E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4855464"/>
            <a:ext cx="1920240" cy="868680"/>
          </a:xfrm>
          <a:prstGeom prst="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EXECUÇÃO PLENA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Automação E2E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Evidências vídeo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0" y="4855464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Fase Concluída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Regressão ativa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779008"/>
            <a:ext cx="32004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0F172A"/>
                </a:solidFill>
              </a:defRPr>
            </a:pPr>
            <a:r>
              <a:t>WP5 • FASE 3: MOBILE (Todos)</a:t>
            </a:r>
            <a:br/>
            <a:r>
              <a:t>Nativo pós-conclusão de WEB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779008"/>
            <a:ext cx="1920240" cy="86868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Bloqueado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(Aguardando WEB)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5779008"/>
            <a:ext cx="1920240" cy="86868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Bloqueado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(Aguardando WEB)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5779008"/>
            <a:ext cx="1920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Preparação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Setup device farm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0" y="5779008"/>
            <a:ext cx="1920240" cy="868680"/>
          </a:xfrm>
          <a:prstGeom prst="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E293B"/>
                </a:solidFill>
              </a:defRPr>
            </a:pPr>
            <a:r>
              <a:t>EXECUÇÃO PLENA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Testes Manuais &amp;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Integração Mobile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PROJETO QAI • FÁBRICA DE TESTES X-TESTING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Tarefas Realizadas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Estruturação dos Agentes Operacionais, Demandas Paperclip, Entregáveis RF046/RF047 e Decisões de Continuidade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02936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" y="1636776"/>
            <a:ext cx="109728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28216"/>
            <a:ext cx="487375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2563EB"/>
                </a:solidFill>
              </a:defRPr>
            </a:pPr>
            <a:r>
              <a:t>ESTRUTURA OPERACIONAL • 5 AGENTES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Criação e Configuração de Agentes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 QAI (CEO): Liderança executiva, governança e validação final da esteira.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 Gerência de Projetos: Planejamento de sprints, gestão de backlog e prazos.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 Análise de Processos: Modelagem BPMN 2.0 dos fluxos e regras de negócio.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 Análise de Testes: Especificação de cenários e suítes completas TestLink.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•  Testador: Execução WEB/Playwright, evidências e reporte de defeitos.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02936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4197096"/>
            <a:ext cx="109728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4288536"/>
            <a:ext cx="487375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6A34A"/>
                </a:solidFill>
              </a:defRPr>
            </a:pPr>
            <a:r>
              <a:t>PAINEL DE DEMANDAS NO PAPERCLIP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33 Tarefas Registradas</a:t>
            </a:r>
          </a:p>
          <a:p>
            <a:pPr>
              <a:defRPr sz="950" b="1">
                <a:solidFill>
                  <a:srgbClr val="16A34A"/>
                </a:solidFill>
              </a:defRPr>
            </a:pPr>
            <a:r>
              <a:t>✔ 15 Concluídas (45.5%):</a:t>
            </a:r>
          </a:p>
          <a:p>
            <a:pPr>
              <a:spcAft>
                <a:spcPts val="300"/>
              </a:spcAft>
              <a:defRPr sz="900">
                <a:solidFill>
                  <a:srgbClr val="1E293B"/>
                </a:solidFill>
              </a:defRPr>
            </a:pPr>
            <a:r>
              <a:t>Especificações TestLink, BPMNs e planilhas de divergência de 5 OSs (RF002, RF027, RF043, RF050 e RF058/RF061).</a:t>
            </a:r>
          </a:p>
          <a:p>
            <a:pPr>
              <a:defRPr sz="950" b="1">
                <a:solidFill>
                  <a:srgbClr val="EA580C"/>
                </a:solidFill>
              </a:defRPr>
            </a:pPr>
            <a:r>
              <a:t>⛔ 6 Bloqueadas (18.2%):</a:t>
            </a:r>
          </a:p>
          <a:p>
            <a:pPr>
              <a:spcAft>
                <a:spcPts val="300"/>
              </a:spcAft>
              <a:defRPr sz="900">
                <a:solidFill>
                  <a:srgbClr val="1E293B"/>
                </a:solidFill>
              </a:defRPr>
            </a:pPr>
            <a:r>
              <a:t>Impedimento por falta de credenciais externas/homologação SANASA (ex.: XTE-18 execução CS-01..10, XTE-16, XTE-23).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⏳ 12 Em Revisão / Backlog (36.3%):</a:t>
            </a:r>
          </a:p>
          <a:p>
            <a:pPr>
              <a:spcAft>
                <a:spcPts val="300"/>
              </a:spcAft>
              <a:defRPr sz="900">
                <a:solidFill>
                  <a:srgbClr val="1E293B"/>
                </a:solidFill>
              </a:defRPr>
            </a:pPr>
            <a:r>
              <a:t>Validações técnicas de artefatos, automação de conectores e saneamento de regras da Fase 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508760"/>
            <a:ext cx="5202936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9088" y="1636776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728216"/>
            <a:ext cx="487375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DEMANDA SANASA • OS 2026/2652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Entregáveis da Demanda RF046/RF047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📄 RF046-RF047-Julgamento-Desclassificacao.bpmn: Modelagem BPMN 2.0 formal de regras e saneamento.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📄 RF046-RF047-Documentacao-BPMN.md: Documentação técnica completa e conformidade com Lei 14.133.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📄 RF046-RF047-Suite-Testes-TestLink.xml: Suíte padronizada com 15 casos estruturados (SANASAPV2-71..85).</a:t>
            </a:r>
          </a:p>
          <a:p>
            <a:pPr>
              <a:spcAft>
                <a:spcPts val="200"/>
              </a:spcAft>
              <a:defRPr sz="900">
                <a:solidFill>
                  <a:srgbClr val="1E293B"/>
                </a:solidFill>
              </a:defRPr>
            </a:pPr>
            <a:r>
              <a:t>📄 RF046-RF047-Planilha-Divergencia-SANASA.csv: Matriz de conferência com 27 requisitos avaliados.</a:t>
            </a:r>
          </a:p>
          <a:p>
            <a:pPr>
              <a:defRPr sz="850" u="sng">
                <a:solidFill>
                  <a:srgbClr val="2563EB"/>
                </a:solidFill>
              </a:defRPr>
            </a:pPr>
            <a:r>
              <a:t>🔗 Artefatos versionados no repositório GitHub (openclaw-x-integration)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4069080"/>
            <a:ext cx="5202936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19088" y="4197096"/>
            <a:ext cx="109728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4288536"/>
            <a:ext cx="487375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EA580C"/>
                </a:solidFill>
              </a:defRPr>
            </a:pPr>
            <a:r>
              <a:t>PROATIVIDADE &amp; BYPASS TÉCNICO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Decisões para Seguir Implementando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1. Validação WEB via Mocks Locais (Playwright):</a:t>
            </a:r>
          </a:p>
          <a:p>
            <a:pPr>
              <a:spcAft>
                <a:spcPts val="300"/>
              </a:spcAft>
              <a:defRPr sz="900">
                <a:solidFill>
                  <a:srgbClr val="1E293B"/>
                </a:solidFill>
              </a:defRPr>
            </a:pPr>
            <a:r>
              <a:t>Execução das suítes de teste diretamente contra os fluxos modelados com emulação/mocks via Playwright, eliminando a espera passiva por liberação de infraestrutura externa.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2. Pacotes de Exportação Estruturada para o Mantis:</a:t>
            </a:r>
          </a:p>
          <a:p>
            <a:pPr>
              <a:spcAft>
                <a:spcPts val="300"/>
              </a:spcAft>
              <a:defRPr sz="900">
                <a:solidFill>
                  <a:srgbClr val="1E293B"/>
                </a:solidFill>
              </a:defRPr>
            </a:pPr>
            <a:r>
              <a:t>Defeitos mapeados (MANTIS-SANASA-1045..1048) gerados em pacotes estruturados (XML/JSON/CSV) pré-formatados para carga em lote imediata assim que as credenciais forem liberadas.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PROJETO QAI • PLANEJAMENTO &amp; GOVERNANÇA AGÊNTICA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Próximas Tarefas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Mapeamento Operacional, Skills de Compliance Regulatório e Prontidão para Auditoria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719072"/>
            <a:ext cx="109728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47088"/>
            <a:ext cx="2962656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EA580C"/>
                </a:solidFill>
              </a:defRPr>
            </a:pPr>
            <a:r>
              <a:t>ALINHAMENTO OPERACIONAL</a:t>
            </a:r>
          </a:p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</a:defRPr>
            </a:pPr>
            <a:r>
              <a:t>Detalhamento do Fluxo X-Testing</a:t>
            </a:r>
          </a:p>
          <a:p>
            <a:pPr>
              <a:spcAft>
                <a:spcPts val="1000"/>
              </a:spcAft>
              <a:defRPr sz="850" b="1">
                <a:solidFill>
                  <a:srgbClr val="64748B"/>
                </a:solidFill>
              </a:defRPr>
            </a:pPr>
            <a:r>
              <a:t>Imersão e Diagnóstico da Esteira Atual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Reunião técnica com a liderança e equipe da X-Testing.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Mapeamento detalhado da esteira atual de testes manuais e rituais operacionais.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Levantamento de critérios de aceite, triagem de defeitos e transição para esteira autônoma.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Mapeamento de critérios de passagem, geração de massa de teste e homologação.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Identificação de gargalos operacionais e pontos de atrito para automação imediata.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Definição de interfaces de colaboração entre analistas humanos e agentes de 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55448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90288" y="1719072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847088"/>
            <a:ext cx="2962656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2563EB"/>
                </a:solidFill>
              </a:defRPr>
            </a:pPr>
            <a:r>
              <a:t>PRIVACIDADE &amp; SEGURANÇA</a:t>
            </a:r>
          </a:p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</a:defRPr>
            </a:pPr>
            <a:r>
              <a:t>Skills de Compliance dos Agentes</a:t>
            </a:r>
          </a:p>
          <a:p>
            <a:pPr>
              <a:spcAft>
                <a:spcPts val="1000"/>
              </a:spcAft>
              <a:defRPr sz="850" b="1">
                <a:solidFill>
                  <a:srgbClr val="64748B"/>
                </a:solidFill>
              </a:defRPr>
            </a:pPr>
            <a:r>
              <a:t>LGPD • GDPR • HIPAA • CCPA • SOC 2 • ISO 27001 • PCI-DSS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Pesquisa e arquitetura de skills para comportamento seguro dos agentes.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Técnicas de Anonimização &amp; Pseudonimização (K2View, Protecto.ai): mascaramento dinâmico, tokenização e hashing irreversível com sal.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Diretrizes Oficiais ANPD &amp; UFCA: aplicação dos padrões regulatórios brasileiros para desidentificação de dados.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Tarjamento de Evidências (MavenDoc): censura automatizada de PII (CPFs, nomes, valores) em screenshots e PDFs de teste.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Coleta Segura &amp; OSINT Ético (OSINT Brasil): higiene de dados para evitar vazamento de credenciais e dados em prompts.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55448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66176" y="1719072"/>
            <a:ext cx="1097280" cy="54864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6" y="1847088"/>
            <a:ext cx="2962656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9333EA"/>
                </a:solidFill>
              </a:defRPr>
            </a:pPr>
            <a:r>
              <a:t>GOVERNANÇA REGULATÓRIA</a:t>
            </a:r>
          </a:p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</a:defRPr>
            </a:pPr>
            <a:r>
              <a:t>Prontidão para Auditoria de IA</a:t>
            </a:r>
          </a:p>
          <a:p>
            <a:pPr>
              <a:spcAft>
                <a:spcPts val="1000"/>
              </a:spcAft>
              <a:defRPr sz="850" b="1">
                <a:solidFill>
                  <a:srgbClr val="64748B"/>
                </a:solidFill>
              </a:defRPr>
            </a:pPr>
            <a:r>
              <a:t>SOC 2 AI • IA GDPR • ISO 27001 IA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SOC 2 AI: Controles de integridade, confidencialidade, auditabilidade de inferências e trilhas de auditoria imutáveis.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IA GDPR / LGPD: Minimização de dados em prompts, política de zero-data retention com LLMs e explicabilidade das decisões.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ISO 27001 IA: Gestão de riscos de IA, inventário de modelos e controles de segurança da informação (ref: Mukul975 / GetClaudeSkills).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 Procedural Gates: Barreira de checagem automática que bloqueia qualquer ação externa não-conforme antes da persistência ou envio.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