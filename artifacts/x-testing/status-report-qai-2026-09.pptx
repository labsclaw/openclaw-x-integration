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86868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5722"/>
                </a:solidFill>
                <a:latin typeface="Raleway"/>
              </a:defRPr>
            </a:pPr>
            <a:r>
              <a:t>01 / ESTRATÉGIA OPERACIONAL</a:t>
            </a:r>
          </a:p>
          <a:p>
            <a:pPr>
              <a:defRPr sz="2200" b="1">
                <a:solidFill>
                  <a:srgbClr val="1A1A1A"/>
                </a:solidFill>
                <a:latin typeface="Raleway"/>
              </a:defRPr>
            </a:pPr>
            <a:r>
              <a:t>Key Objectives &amp; Estratégia de Fases</a:t>
            </a:r>
          </a:p>
          <a:p>
            <a:pPr>
              <a:defRPr sz="1100">
                <a:solidFill>
                  <a:srgbClr val="7F7F7F"/>
                </a:solidFill>
                <a:latin typeface="Raleway"/>
              </a:defRPr>
            </a:pPr>
            <a:r>
              <a:t>Evolução da operação de testes manuais para esteira autônoma com agentes de IA (OpenClaw + Paperclip)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365760"/>
            <a:ext cx="1600200" cy="8696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00" b="1">
                <a:solidFill>
                  <a:srgbClr val="A0A0A0"/>
                </a:solidFill>
                <a:latin typeface="Raleway"/>
              </a:defRPr>
            </a:pPr>
            <a:r>
              <a:t>PROJETO QAI • FÁBRICA DE TESTES X-TESTING  |  ESTEIRA DE QUALIDADE &amp; SANASA  |  WWW.XTESTING.COM.BR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3328416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764792"/>
            <a:ext cx="1097280" cy="54864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761D"/>
                </a:solidFill>
                <a:latin typeface="Raleway"/>
              </a:defRPr>
            </a:pPr>
            <a:r>
              <a:t>FASE 01  •  01</a:t>
            </a:r>
          </a:p>
          <a:p>
            <a:pPr>
              <a:spcAft>
                <a:spcPts val="400"/>
              </a:spcAft>
              <a:defRPr sz="1500" b="1">
                <a:solidFill>
                  <a:srgbClr val="1A1A1A"/>
                </a:solidFill>
                <a:latin typeface="Raleway"/>
              </a:defRPr>
            </a:pPr>
            <a:r>
              <a:t>WEB: Testes Manuais</a:t>
            </a:r>
          </a:p>
          <a:p>
            <a:pPr>
              <a:spcAft>
                <a:spcPts val="1000"/>
              </a:spcAft>
              <a:defRPr sz="850" b="1">
                <a:solidFill>
                  <a:srgbClr val="38761D"/>
                </a:solidFill>
                <a:latin typeface="Raleway"/>
              </a:defRPr>
            </a:pPr>
            <a:r>
              <a:t>EM ANDAMENTO • BASELINE</a:t>
            </a:r>
          </a:p>
          <a:p>
            <a:pPr>
              <a:spcAft>
                <a:spcPts val="1400"/>
              </a:spcAft>
              <a:defRPr sz="1000">
                <a:solidFill>
                  <a:srgbClr val="7F7F7F"/>
                </a:solidFill>
                <a:latin typeface="Raleway"/>
              </a:defRPr>
            </a:pPr>
            <a:r>
              <a:t>Espelhamento dos papéis operacionais e automação do suporte à execução manual.</a:t>
            </a:r>
          </a:p>
          <a:p>
            <a:pPr>
              <a:spcAft>
                <a:spcPts val="600"/>
              </a:spcAft>
              <a:defRPr sz="950">
                <a:solidFill>
                  <a:srgbClr val="1A1A1A"/>
                </a:solidFill>
                <a:latin typeface="Raleway"/>
              </a:defRPr>
            </a:pPr>
            <a:r>
              <a:t>•  Extração estruturada de requisitos (Tree-RAG / PageIndex)</a:t>
            </a:r>
          </a:p>
          <a:p>
            <a:pPr>
              <a:spcAft>
                <a:spcPts val="600"/>
              </a:spcAft>
              <a:defRPr sz="950">
                <a:solidFill>
                  <a:srgbClr val="1A1A1A"/>
                </a:solidFill>
                <a:latin typeface="Raleway"/>
              </a:defRPr>
            </a:pPr>
            <a:r>
              <a:t>•  Geração de fluxos e regras em BPMN 2.0 formal</a:t>
            </a:r>
          </a:p>
          <a:p>
            <a:pPr>
              <a:spcAft>
                <a:spcPts val="600"/>
              </a:spcAft>
              <a:defRPr sz="950">
                <a:solidFill>
                  <a:srgbClr val="1A1A1A"/>
                </a:solidFill>
                <a:latin typeface="Raleway"/>
              </a:defRPr>
            </a:pPr>
            <a:r>
              <a:t>•  Elaboração automatizada de Casos de Teste (TestLink)</a:t>
            </a:r>
          </a:p>
          <a:p>
            <a:pPr>
              <a:spcAft>
                <a:spcPts val="600"/>
              </a:spcAft>
              <a:defRPr sz="950">
                <a:solidFill>
                  <a:srgbClr val="1A1A1A"/>
                </a:solidFill>
                <a:latin typeface="Raleway"/>
              </a:defRPr>
            </a:pPr>
            <a:r>
              <a:t>•  Triagem e pré-preenchimento de defeitos (Mantis)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600200"/>
            <a:ext cx="3328416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08576" y="1764792"/>
            <a:ext cx="1097280" cy="54864"/>
          </a:xfrm>
          <a:prstGeom prst="rect">
            <a:avLst/>
          </a:prstGeom>
          <a:solidFill>
            <a:srgbClr val="509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192024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509546"/>
                </a:solidFill>
                <a:latin typeface="Raleway"/>
              </a:defRPr>
            </a:pPr>
            <a:r>
              <a:t>FASE 02  •  02</a:t>
            </a:r>
          </a:p>
          <a:p>
            <a:pPr>
              <a:spcAft>
                <a:spcPts val="400"/>
              </a:spcAft>
              <a:defRPr sz="1500" b="1">
                <a:solidFill>
                  <a:srgbClr val="1A1A1A"/>
                </a:solidFill>
                <a:latin typeface="Raleway"/>
              </a:defRPr>
            </a:pPr>
            <a:r>
              <a:t>WEB: Integração &amp; Aceitação</a:t>
            </a:r>
          </a:p>
          <a:p>
            <a:pPr>
              <a:spcAft>
                <a:spcPts val="1000"/>
              </a:spcAft>
              <a:defRPr sz="850" b="1">
                <a:solidFill>
                  <a:srgbClr val="509546"/>
                </a:solidFill>
                <a:latin typeface="Raleway"/>
              </a:defRPr>
            </a:pPr>
            <a:r>
              <a:t>PLANEJADA • SEQUENCIAL</a:t>
            </a:r>
          </a:p>
          <a:p>
            <a:pPr>
              <a:spcAft>
                <a:spcPts val="1400"/>
              </a:spcAft>
              <a:defRPr sz="1000">
                <a:solidFill>
                  <a:srgbClr val="7F7F7F"/>
                </a:solidFill>
                <a:latin typeface="Raleway"/>
              </a:defRPr>
            </a:pPr>
            <a:r>
              <a:t>Automação E2E com execução autônoma no navegador e evidências rastreáveis.</a:t>
            </a:r>
          </a:p>
          <a:p>
            <a:pPr>
              <a:spcAft>
                <a:spcPts val="600"/>
              </a:spcAft>
              <a:defRPr sz="950">
                <a:solidFill>
                  <a:srgbClr val="1A1A1A"/>
                </a:solidFill>
                <a:latin typeface="Raleway"/>
              </a:defRPr>
            </a:pPr>
            <a:r>
              <a:t>•  Execução agêntica via Playwright / Camoufox</a:t>
            </a:r>
          </a:p>
          <a:p>
            <a:pPr>
              <a:spcAft>
                <a:spcPts val="600"/>
              </a:spcAft>
              <a:defRPr sz="950">
                <a:solidFill>
                  <a:srgbClr val="1A1A1A"/>
                </a:solidFill>
                <a:latin typeface="Raleway"/>
              </a:defRPr>
            </a:pPr>
            <a:r>
              <a:t>•  Validação de integração de APIs e regras de negócio</a:t>
            </a:r>
          </a:p>
          <a:p>
            <a:pPr>
              <a:spcAft>
                <a:spcPts val="600"/>
              </a:spcAft>
              <a:defRPr sz="950">
                <a:solidFill>
                  <a:srgbClr val="1A1A1A"/>
                </a:solidFill>
                <a:latin typeface="Raleway"/>
              </a:defRPr>
            </a:pPr>
            <a:r>
              <a:t>•  Geração de evidências com prints e vídeos por passo</a:t>
            </a:r>
          </a:p>
          <a:p>
            <a:pPr>
              <a:spcAft>
                <a:spcPts val="600"/>
              </a:spcAft>
              <a:defRPr sz="950">
                <a:solidFill>
                  <a:srgbClr val="1A1A1A"/>
                </a:solidFill>
                <a:latin typeface="Raleway"/>
              </a:defRPr>
            </a:pPr>
            <a:r>
              <a:t>•  Pipeline de regressão contínua integrada ao CI/CD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600200"/>
            <a:ext cx="3328416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02752" y="1764792"/>
            <a:ext cx="1097280" cy="54864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192024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5722"/>
                </a:solidFill>
                <a:latin typeface="Raleway"/>
              </a:defRPr>
            </a:pPr>
            <a:r>
              <a:t>FASE 03  •  03</a:t>
            </a:r>
          </a:p>
          <a:p>
            <a:pPr>
              <a:spcAft>
                <a:spcPts val="400"/>
              </a:spcAft>
              <a:defRPr sz="1500" b="1">
                <a:solidFill>
                  <a:srgbClr val="1A1A1A"/>
                </a:solidFill>
                <a:latin typeface="Raleway"/>
              </a:defRPr>
            </a:pPr>
            <a:r>
              <a:t>MOBILE: Todos os Anteriores</a:t>
            </a:r>
          </a:p>
          <a:p>
            <a:pPr>
              <a:spcAft>
                <a:spcPts val="1000"/>
              </a:spcAft>
              <a:defRPr sz="850" b="1">
                <a:solidFill>
                  <a:srgbClr val="FF5722"/>
                </a:solidFill>
                <a:latin typeface="Raleway"/>
              </a:defRPr>
            </a:pPr>
            <a:r>
              <a:t>CONDICIONAL • PÓS-WEB</a:t>
            </a:r>
          </a:p>
          <a:p>
            <a:pPr>
              <a:spcAft>
                <a:spcPts val="1400"/>
              </a:spcAft>
              <a:defRPr sz="1000">
                <a:solidFill>
                  <a:srgbClr val="7F7F7F"/>
                </a:solidFill>
                <a:latin typeface="Raleway"/>
              </a:defRPr>
            </a:pPr>
            <a:r>
              <a:t>Transposição do ecossistema agêntico completo para aplicações mobile nativas.</a:t>
            </a:r>
          </a:p>
          <a:p>
            <a:pPr>
              <a:spcAft>
                <a:spcPts val="600"/>
              </a:spcAft>
              <a:defRPr sz="950">
                <a:solidFill>
                  <a:srgbClr val="1A1A1A"/>
                </a:solidFill>
                <a:latin typeface="Raleway"/>
              </a:defRPr>
            </a:pPr>
            <a:r>
              <a:t>•  Início condicionado ao término das Fases 01 e 02</a:t>
            </a:r>
          </a:p>
          <a:p>
            <a:pPr>
              <a:spcAft>
                <a:spcPts val="600"/>
              </a:spcAft>
              <a:defRPr sz="950">
                <a:solidFill>
                  <a:srgbClr val="1A1A1A"/>
                </a:solidFill>
                <a:latin typeface="Raleway"/>
              </a:defRPr>
            </a:pPr>
            <a:r>
              <a:t>•  Testes funcionais, usabilidade e fluxos de tela nativos</a:t>
            </a:r>
          </a:p>
          <a:p>
            <a:pPr>
              <a:spcAft>
                <a:spcPts val="600"/>
              </a:spcAft>
              <a:defRPr sz="950">
                <a:solidFill>
                  <a:srgbClr val="1A1A1A"/>
                </a:solidFill>
                <a:latin typeface="Raleway"/>
              </a:defRPr>
            </a:pPr>
            <a:r>
              <a:t>•  Integração e testes de aceitação em Android/iOS</a:t>
            </a:r>
          </a:p>
          <a:p>
            <a:pPr>
              <a:spcAft>
                <a:spcPts val="600"/>
              </a:spcAft>
              <a:defRPr sz="950">
                <a:solidFill>
                  <a:srgbClr val="1A1A1A"/>
                </a:solidFill>
                <a:latin typeface="Raleway"/>
              </a:defRPr>
            </a:pPr>
            <a:r>
              <a:t>•  Automação agêntica em dispositivos reais e emuladores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86868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5722"/>
                </a:solidFill>
                <a:latin typeface="Raleway"/>
              </a:defRPr>
            </a:pPr>
            <a:r>
              <a:t>02 / ROADMAP ESTRATÉGICO</a:t>
            </a:r>
          </a:p>
          <a:p>
            <a:pPr>
              <a:defRPr sz="2200" b="1">
                <a:solidFill>
                  <a:srgbClr val="1A1A1A"/>
                </a:solidFill>
                <a:latin typeface="Raleway"/>
              </a:defRPr>
            </a:pPr>
            <a:r>
              <a:t>Product Stages Roadmap (Setembro - Dezembro 2026)</a:t>
            </a:r>
          </a:p>
          <a:p>
            <a:pPr>
              <a:defRPr sz="1100">
                <a:solidFill>
                  <a:srgbClr val="7F7F7F"/>
                </a:solidFill>
                <a:latin typeface="Raleway"/>
              </a:defRPr>
            </a:pPr>
            <a:r>
              <a:t>Evolução estruturada em 4 etapas bimestrais com entregas tangíveis e critérios de avanço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365760"/>
            <a:ext cx="1600200" cy="8696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00" b="1">
                <a:solidFill>
                  <a:srgbClr val="A0A0A0"/>
                </a:solidFill>
                <a:latin typeface="Raleway"/>
              </a:defRPr>
            </a:pPr>
            <a:r>
              <a:t>PROJETO QAI • FÁBRICA DE TESTES X-TESTING  |  ESTEIRA DE QUALIDADE &amp; SANASA  |  WWW.XTESTING.COM.BR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164592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1A1A1A"/>
                </a:solidFill>
                <a:latin typeface="Raleway"/>
              </a:defRPr>
            </a:pPr>
            <a:r>
              <a:t>Our Approach</a:t>
            </a:r>
          </a:p>
        </p:txBody>
      </p:sp>
      <p:sp>
        <p:nvSpPr>
          <p:cNvPr id="8" name="Chevron 7"/>
          <p:cNvSpPr/>
          <p:nvPr/>
        </p:nvSpPr>
        <p:spPr>
          <a:xfrm>
            <a:off x="2560320" y="1554480"/>
            <a:ext cx="1645920" cy="594360"/>
          </a:xfrm>
          <a:prstGeom prst="chevron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  <a:latin typeface="Raleway"/>
              </a:defRPr>
            </a:pPr>
            <a:r>
              <a:t>1. Setembro 2026</a:t>
            </a:r>
          </a:p>
        </p:txBody>
      </p:sp>
      <p:sp>
        <p:nvSpPr>
          <p:cNvPr id="9" name="Chevron 8"/>
          <p:cNvSpPr/>
          <p:nvPr/>
        </p:nvSpPr>
        <p:spPr>
          <a:xfrm>
            <a:off x="4937760" y="1554480"/>
            <a:ext cx="2240280" cy="594360"/>
          </a:xfrm>
          <a:prstGeom prst="chevron">
            <a:avLst/>
          </a:prstGeom>
          <a:solidFill>
            <a:srgbClr val="509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  <a:latin typeface="Raleway"/>
              </a:defRPr>
            </a:pPr>
            <a:r>
              <a:t>2. Outubro 2026</a:t>
            </a:r>
          </a:p>
        </p:txBody>
      </p:sp>
      <p:sp>
        <p:nvSpPr>
          <p:cNvPr id="10" name="Chevron 9"/>
          <p:cNvSpPr/>
          <p:nvPr/>
        </p:nvSpPr>
        <p:spPr>
          <a:xfrm>
            <a:off x="7315200" y="1554480"/>
            <a:ext cx="2240280" cy="594360"/>
          </a:xfrm>
          <a:prstGeom prst="chevron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  <a:latin typeface="Raleway"/>
              </a:defRPr>
            </a:pPr>
            <a:r>
              <a:t>3. Novembro 2026</a:t>
            </a:r>
          </a:p>
        </p:txBody>
      </p:sp>
      <p:sp>
        <p:nvSpPr>
          <p:cNvPr id="11" name="Chevron 10"/>
          <p:cNvSpPr/>
          <p:nvPr/>
        </p:nvSpPr>
        <p:spPr>
          <a:xfrm>
            <a:off x="9692640" y="1554480"/>
            <a:ext cx="2240280" cy="594360"/>
          </a:xfrm>
          <a:prstGeom prst="chevron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  <a:latin typeface="Raleway"/>
              </a:defRPr>
            </a:pPr>
            <a:r>
              <a:t>4. Dezembro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240280"/>
            <a:ext cx="1645920" cy="1325880"/>
          </a:xfrm>
          <a:prstGeom prst="rect">
            <a:avLst/>
          </a:prstGeom>
          <a:solidFill>
            <a:srgbClr val="FFFFFF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1A1A1A"/>
                </a:solidFill>
                <a:latin typeface="Raleway"/>
              </a:defRPr>
            </a:pPr>
            <a:r>
              <a:t>Strategic</a:t>
            </a:r>
            <a:br/>
            <a:r>
              <a:t>Objectives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0" y="2240280"/>
            <a:ext cx="1645920" cy="1325880"/>
          </a:xfrm>
          <a:prstGeom prst="rect">
            <a:avLst/>
          </a:prstGeom>
          <a:solidFill>
            <a:srgbClr val="EDF7ED"/>
          </a:solidFill>
          <a:ln w="1905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900" b="1">
                <a:solidFill>
                  <a:srgbClr val="274E13"/>
                </a:solidFill>
                <a:latin typeface="Raleway"/>
              </a:defRPr>
            </a:pPr>
            <a:r>
              <a:t>• Instalar Paperclip &amp; estruturar XTE</a:t>
            </a:r>
          </a:p>
          <a:p>
            <a:pPr>
              <a:spcAft>
                <a:spcPts val="200"/>
              </a:spcAft>
              <a:defRPr sz="900" b="1">
                <a:solidFill>
                  <a:srgbClr val="274E13"/>
                </a:solidFill>
                <a:latin typeface="Raleway"/>
              </a:defRPr>
            </a:pPr>
            <a:r>
              <a:t>• Baseline agêntico com QAI (CEO)</a:t>
            </a:r>
          </a:p>
          <a:p>
            <a:pPr>
              <a:spcAft>
                <a:spcPts val="200"/>
              </a:spcAft>
              <a:defRPr sz="900" b="1">
                <a:solidFill>
                  <a:srgbClr val="274E13"/>
                </a:solidFill>
                <a:latin typeface="Raleway"/>
              </a:defRPr>
            </a:pPr>
            <a:r>
              <a:t>• Rastreabilidade sem chunking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60" y="2240280"/>
            <a:ext cx="22402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900">
                <a:solidFill>
                  <a:srgbClr val="1A1A1A"/>
                </a:solidFill>
                <a:latin typeface="Raleway"/>
              </a:defRPr>
            </a:pPr>
            <a:r>
              <a:t>• Operar WEB Testes Manuais</a:t>
            </a:r>
          </a:p>
          <a:p>
            <a:pPr>
              <a:spcAft>
                <a:spcPts val="200"/>
              </a:spcAft>
              <a:defRPr sz="900">
                <a:solidFill>
                  <a:srgbClr val="1A1A1A"/>
                </a:solidFill>
                <a:latin typeface="Raleway"/>
              </a:defRPr>
            </a:pPr>
            <a:r>
              <a:t>• Automatizar geração de TC / Mantis</a:t>
            </a:r>
          </a:p>
          <a:p>
            <a:pPr>
              <a:spcAft>
                <a:spcPts val="200"/>
              </a:spcAft>
              <a:defRPr sz="900">
                <a:solidFill>
                  <a:srgbClr val="1A1A1A"/>
                </a:solidFill>
                <a:latin typeface="Raleway"/>
              </a:defRPr>
            </a:pPr>
            <a:r>
              <a:t>• Integrar conectores ALM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2240280"/>
            <a:ext cx="22402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900">
                <a:solidFill>
                  <a:srgbClr val="1A1A1A"/>
                </a:solidFill>
                <a:latin typeface="Raleway"/>
              </a:defRPr>
            </a:pPr>
            <a:r>
              <a:t>• Automação WEB Integração/E2E</a:t>
            </a:r>
          </a:p>
          <a:p>
            <a:pPr>
              <a:spcAft>
                <a:spcPts val="200"/>
              </a:spcAft>
              <a:defRPr sz="900">
                <a:solidFill>
                  <a:srgbClr val="1A1A1A"/>
                </a:solidFill>
                <a:latin typeface="Raleway"/>
              </a:defRPr>
            </a:pPr>
            <a:r>
              <a:t>• Execução autônoma Playwright</a:t>
            </a:r>
          </a:p>
          <a:p>
            <a:pPr>
              <a:spcAft>
                <a:spcPts val="200"/>
              </a:spcAft>
              <a:defRPr sz="900">
                <a:solidFill>
                  <a:srgbClr val="1A1A1A"/>
                </a:solidFill>
                <a:latin typeface="Raleway"/>
              </a:defRPr>
            </a:pPr>
            <a:r>
              <a:t>• Validação contínua de regras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92640" y="2240280"/>
            <a:ext cx="22402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900">
                <a:solidFill>
                  <a:srgbClr val="1A1A1A"/>
                </a:solidFill>
                <a:latin typeface="Raleway"/>
              </a:defRPr>
            </a:pPr>
            <a:r>
              <a:t>• Kickoff esteira MOBILE</a:t>
            </a:r>
          </a:p>
          <a:p>
            <a:pPr>
              <a:spcAft>
                <a:spcPts val="200"/>
              </a:spcAft>
              <a:defRPr sz="900">
                <a:solidFill>
                  <a:srgbClr val="1A1A1A"/>
                </a:solidFill>
                <a:latin typeface="Raleway"/>
              </a:defRPr>
            </a:pPr>
            <a:r>
              <a:t>• Transpor skills para apps nativos</a:t>
            </a:r>
          </a:p>
          <a:p>
            <a:pPr>
              <a:spcAft>
                <a:spcPts val="200"/>
              </a:spcAft>
              <a:defRPr sz="900">
                <a:solidFill>
                  <a:srgbClr val="1A1A1A"/>
                </a:solidFill>
                <a:latin typeface="Raleway"/>
              </a:defRPr>
            </a:pPr>
            <a:r>
              <a:t>• Homologação completa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657600"/>
            <a:ext cx="1645920" cy="1325880"/>
          </a:xfrm>
          <a:prstGeom prst="rect">
            <a:avLst/>
          </a:prstGeom>
          <a:solidFill>
            <a:srgbClr val="FFFFFF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1A1A1A"/>
                </a:solidFill>
                <a:latin typeface="Raleway"/>
              </a:defRPr>
            </a:pPr>
            <a:r>
              <a:t>Key</a:t>
            </a:r>
            <a:br/>
            <a:r>
              <a:t>Milestones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0" y="3657600"/>
            <a:ext cx="1645920" cy="1325880"/>
          </a:xfrm>
          <a:prstGeom prst="rect">
            <a:avLst/>
          </a:prstGeom>
          <a:solidFill>
            <a:srgbClr val="EDF7ED"/>
          </a:solidFill>
          <a:ln w="1905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900" b="1">
                <a:solidFill>
                  <a:srgbClr val="274E13"/>
                </a:solidFill>
                <a:latin typeface="Raleway"/>
              </a:defRPr>
            </a:pPr>
            <a:r>
              <a:t>• Ambiente Paperclip 100% ativo</a:t>
            </a:r>
          </a:p>
          <a:p>
            <a:pPr>
              <a:spcAft>
                <a:spcPts val="200"/>
              </a:spcAft>
              <a:defRPr sz="900" b="1">
                <a:solidFill>
                  <a:srgbClr val="274E13"/>
                </a:solidFill>
                <a:latin typeface="Raleway"/>
              </a:defRPr>
            </a:pPr>
            <a:r>
              <a:t>• Tree-RAG SANASA indexado</a:t>
            </a:r>
          </a:p>
          <a:p>
            <a:pPr>
              <a:spcAft>
                <a:spcPts val="200"/>
              </a:spcAft>
              <a:defRPr sz="900" b="1">
                <a:solidFill>
                  <a:srgbClr val="274E13"/>
                </a:solidFill>
                <a:latin typeface="Raleway"/>
              </a:defRPr>
            </a:pPr>
            <a:r>
              <a:t>• Skill de BPMN validada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0" y="3657600"/>
            <a:ext cx="22402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900">
                <a:solidFill>
                  <a:srgbClr val="1A1A1A"/>
                </a:solidFill>
                <a:latin typeface="Raleway"/>
              </a:defRPr>
            </a:pPr>
            <a:r>
              <a:t>• 1º Ciclo de testes gerado por IA</a:t>
            </a:r>
          </a:p>
          <a:p>
            <a:pPr>
              <a:spcAft>
                <a:spcPts val="200"/>
              </a:spcAft>
              <a:defRPr sz="900">
                <a:solidFill>
                  <a:srgbClr val="1A1A1A"/>
                </a:solidFill>
                <a:latin typeface="Raleway"/>
              </a:defRPr>
            </a:pPr>
            <a:r>
              <a:t>• Geração de CTs no TestLink</a:t>
            </a:r>
          </a:p>
          <a:p>
            <a:pPr>
              <a:spcAft>
                <a:spcPts val="200"/>
              </a:spcAft>
              <a:defRPr sz="900">
                <a:solidFill>
                  <a:srgbClr val="1A1A1A"/>
                </a:solidFill>
                <a:latin typeface="Raleway"/>
              </a:defRPr>
            </a:pPr>
            <a:r>
              <a:t>• Validação com time SANASA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3657600"/>
            <a:ext cx="22402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900">
                <a:solidFill>
                  <a:srgbClr val="1A1A1A"/>
                </a:solidFill>
                <a:latin typeface="Raleway"/>
              </a:defRPr>
            </a:pPr>
            <a:r>
              <a:t>• Bateria de testes E2E executada</a:t>
            </a:r>
          </a:p>
          <a:p>
            <a:pPr>
              <a:spcAft>
                <a:spcPts val="200"/>
              </a:spcAft>
              <a:defRPr sz="900">
                <a:solidFill>
                  <a:srgbClr val="1A1A1A"/>
                </a:solidFill>
                <a:latin typeface="Raleway"/>
              </a:defRPr>
            </a:pPr>
            <a:r>
              <a:t>• Cobertura de regras críticas</a:t>
            </a:r>
          </a:p>
          <a:p>
            <a:pPr>
              <a:spcAft>
                <a:spcPts val="200"/>
              </a:spcAft>
              <a:defRPr sz="900">
                <a:solidFill>
                  <a:srgbClr val="1A1A1A"/>
                </a:solidFill>
                <a:latin typeface="Raleway"/>
              </a:defRPr>
            </a:pPr>
            <a:r>
              <a:t>• Evidências visuais auditáveis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92640" y="3657600"/>
            <a:ext cx="22402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900">
                <a:solidFill>
                  <a:srgbClr val="1A1A1A"/>
                </a:solidFill>
                <a:latin typeface="Raleway"/>
              </a:defRPr>
            </a:pPr>
            <a:r>
              <a:t>• Matriz de testes Mobile pronta</a:t>
            </a:r>
          </a:p>
          <a:p>
            <a:pPr>
              <a:spcAft>
                <a:spcPts val="200"/>
              </a:spcAft>
              <a:defRPr sz="900">
                <a:solidFill>
                  <a:srgbClr val="1A1A1A"/>
                </a:solidFill>
                <a:latin typeface="Raleway"/>
              </a:defRPr>
            </a:pPr>
            <a:r>
              <a:t>• Execução emuladores/reais</a:t>
            </a:r>
          </a:p>
          <a:p>
            <a:pPr>
              <a:spcAft>
                <a:spcPts val="200"/>
              </a:spcAft>
              <a:defRPr sz="900">
                <a:solidFill>
                  <a:srgbClr val="1A1A1A"/>
                </a:solidFill>
                <a:latin typeface="Raleway"/>
              </a:defRPr>
            </a:pPr>
            <a:r>
              <a:t>• Handover operacional 2027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074920"/>
            <a:ext cx="1645920" cy="1325880"/>
          </a:xfrm>
          <a:prstGeom prst="rect">
            <a:avLst/>
          </a:prstGeom>
          <a:solidFill>
            <a:srgbClr val="FFFFFF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1A1A1A"/>
                </a:solidFill>
                <a:latin typeface="Raleway"/>
              </a:defRPr>
            </a:pPr>
            <a:r>
              <a:t>Deliverables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60320" y="5074920"/>
            <a:ext cx="1645920" cy="1325880"/>
          </a:xfrm>
          <a:prstGeom prst="rect">
            <a:avLst/>
          </a:prstGeom>
          <a:solidFill>
            <a:srgbClr val="EDF7ED"/>
          </a:solidFill>
          <a:ln w="1905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900" b="1">
                <a:solidFill>
                  <a:srgbClr val="274E13"/>
                </a:solidFill>
                <a:latin typeface="Raleway"/>
              </a:defRPr>
            </a:pPr>
            <a:r>
              <a:t>• Planilha de Classificação / Riscos</a:t>
            </a:r>
          </a:p>
          <a:p>
            <a:pPr>
              <a:spcAft>
                <a:spcPts val="200"/>
              </a:spcAft>
              <a:defRPr sz="900" b="1">
                <a:solidFill>
                  <a:srgbClr val="274E13"/>
                </a:solidFill>
                <a:latin typeface="Raleway"/>
              </a:defRPr>
            </a:pPr>
            <a:r>
              <a:t>• sanasa-requirements-tree.json</a:t>
            </a:r>
          </a:p>
          <a:p>
            <a:pPr>
              <a:spcAft>
                <a:spcPts val="200"/>
              </a:spcAft>
              <a:defRPr sz="900" b="1">
                <a:solidFill>
                  <a:srgbClr val="274E13"/>
                </a:solidFill>
                <a:latin typeface="Raleway"/>
              </a:defRPr>
            </a:pPr>
            <a:r>
              <a:t>• Segmentos SSC no Memory Viewer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37760" y="5074920"/>
            <a:ext cx="22402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900">
                <a:solidFill>
                  <a:srgbClr val="1A1A1A"/>
                </a:solidFill>
                <a:latin typeface="Raleway"/>
              </a:defRPr>
            </a:pPr>
            <a:r>
              <a:t>• Suíte TestLink gerada por IA</a:t>
            </a:r>
          </a:p>
          <a:p>
            <a:pPr>
              <a:spcAft>
                <a:spcPts val="200"/>
              </a:spcAft>
              <a:defRPr sz="900">
                <a:solidFill>
                  <a:srgbClr val="1A1A1A"/>
                </a:solidFill>
                <a:latin typeface="Raleway"/>
              </a:defRPr>
            </a:pPr>
            <a:r>
              <a:t>• Relatório de aderência manual</a:t>
            </a:r>
          </a:p>
          <a:p>
            <a:pPr>
              <a:spcAft>
                <a:spcPts val="200"/>
              </a:spcAft>
              <a:defRPr sz="900">
                <a:solidFill>
                  <a:srgbClr val="1A1A1A"/>
                </a:solidFill>
                <a:latin typeface="Raleway"/>
              </a:defRPr>
            </a:pPr>
            <a:r>
              <a:t>• Dashboards operacionais QAI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0" y="5074920"/>
            <a:ext cx="22402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900">
                <a:solidFill>
                  <a:srgbClr val="1A1A1A"/>
                </a:solidFill>
                <a:latin typeface="Raleway"/>
              </a:defRPr>
            </a:pPr>
            <a:r>
              <a:t>• Scripts Playwright automatizados</a:t>
            </a:r>
          </a:p>
          <a:p>
            <a:pPr>
              <a:spcAft>
                <a:spcPts val="200"/>
              </a:spcAft>
              <a:defRPr sz="900">
                <a:solidFill>
                  <a:srgbClr val="1A1A1A"/>
                </a:solidFill>
                <a:latin typeface="Raleway"/>
              </a:defRPr>
            </a:pPr>
            <a:r>
              <a:t>• Pipeline de testes WEB ativa</a:t>
            </a:r>
          </a:p>
          <a:p>
            <a:pPr>
              <a:spcAft>
                <a:spcPts val="200"/>
              </a:spcAft>
              <a:defRPr sz="900">
                <a:solidFill>
                  <a:srgbClr val="1A1A1A"/>
                </a:solidFill>
                <a:latin typeface="Raleway"/>
              </a:defRPr>
            </a:pPr>
            <a:r>
              <a:t>• Relatórios de bugs no Mantis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92640" y="5074920"/>
            <a:ext cx="22402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900">
                <a:solidFill>
                  <a:srgbClr val="1A1A1A"/>
                </a:solidFill>
                <a:latin typeface="Raleway"/>
              </a:defRPr>
            </a:pPr>
            <a:r>
              <a:t>• Suíte Mobile completa (Fase 3)</a:t>
            </a:r>
          </a:p>
          <a:p>
            <a:pPr>
              <a:spcAft>
                <a:spcPts val="200"/>
              </a:spcAft>
              <a:defRPr sz="900">
                <a:solidFill>
                  <a:srgbClr val="1A1A1A"/>
                </a:solidFill>
                <a:latin typeface="Raleway"/>
              </a:defRPr>
            </a:pPr>
            <a:r>
              <a:t>• Relatório consolidado de KPIs</a:t>
            </a:r>
          </a:p>
          <a:p>
            <a:pPr>
              <a:spcAft>
                <a:spcPts val="200"/>
              </a:spcAft>
              <a:defRPr sz="900">
                <a:solidFill>
                  <a:srgbClr val="1A1A1A"/>
                </a:solidFill>
                <a:latin typeface="Raleway"/>
              </a:defRPr>
            </a:pPr>
            <a:r>
              <a:t>• Manual operacional agêntico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86868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5722"/>
                </a:solidFill>
                <a:latin typeface="Raleway"/>
              </a:defRPr>
            </a:pPr>
            <a:r>
              <a:t>03 / CRONOGRAMA EXECUTIVO</a:t>
            </a:r>
          </a:p>
          <a:p>
            <a:pPr>
              <a:defRPr sz="2200" b="1">
                <a:solidFill>
                  <a:srgbClr val="1A1A1A"/>
                </a:solidFill>
                <a:latin typeface="Raleway"/>
              </a:defRPr>
            </a:pPr>
            <a:r>
              <a:t>Schedule Executivo &amp; Marcos de Progresso (Mês a Mês)</a:t>
            </a:r>
          </a:p>
          <a:p>
            <a:pPr>
              <a:defRPr sz="1100">
                <a:solidFill>
                  <a:srgbClr val="7F7F7F"/>
                </a:solidFill>
                <a:latin typeface="Raleway"/>
              </a:defRPr>
            </a:pPr>
            <a:r>
              <a:t>Acompanhamento sistemático por Work Packages alinhados aos marcos contratuais e técnicos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365760"/>
            <a:ext cx="1600200" cy="8696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00" b="1">
                <a:solidFill>
                  <a:srgbClr val="A0A0A0"/>
                </a:solidFill>
                <a:latin typeface="Raleway"/>
              </a:defRPr>
            </a:pPr>
            <a:r>
              <a:t>PROJETO QAI • FÁBRICA DE TESTES X-TESTING  |  ESTEIRA DE QUALIDADE &amp; SANASA  |  WWW.XTESTING.COM.BR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320040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  <a:latin typeface="Raleway"/>
              </a:defRPr>
            </a:pPr>
            <a:r>
              <a:t>Work Package / Trilha de Execução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1554480"/>
            <a:ext cx="1920240" cy="4572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  <a:latin typeface="Raleway"/>
              </a:defRPr>
            </a:pPr>
            <a:r>
              <a:t>SET/2026 (Atual)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554480"/>
            <a:ext cx="1920240" cy="457200"/>
          </a:xfrm>
          <a:prstGeom prst="rect">
            <a:avLst/>
          </a:prstGeom>
          <a:solidFill>
            <a:srgbClr val="509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  <a:latin typeface="Raleway"/>
              </a:defRPr>
            </a:pPr>
            <a:r>
              <a:t>OUT/2026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554480"/>
            <a:ext cx="1920240" cy="4572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  <a:latin typeface="Raleway"/>
              </a:defRPr>
            </a:pPr>
            <a:r>
              <a:t>NOV/2026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49840" y="1554480"/>
            <a:ext cx="1920240" cy="4572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  <a:latin typeface="Raleway"/>
              </a:defRPr>
            </a:pPr>
            <a:r>
              <a:t>DEZ/2026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084832"/>
            <a:ext cx="3200400" cy="841248"/>
          </a:xfrm>
          <a:prstGeom prst="rect">
            <a:avLst/>
          </a:prstGeom>
          <a:solidFill>
            <a:srgbClr val="FFFFFF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950">
                <a:solidFill>
                  <a:srgbClr val="1A1A1A"/>
                </a:solidFill>
                <a:latin typeface="Raleway"/>
              </a:defRPr>
            </a:pPr>
            <a:r>
              <a:t>WP1 • Setup Agêntico &amp; Paperclip</a:t>
            </a:r>
            <a:br/>
            <a:r>
              <a:t>Ambiente, organograma e governança QAI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2084832"/>
            <a:ext cx="1920240" cy="841248"/>
          </a:xfrm>
          <a:prstGeom prst="rect">
            <a:avLst/>
          </a:prstGeom>
          <a:solidFill>
            <a:srgbClr val="EDF7ED"/>
          </a:solidFill>
          <a:ln w="1524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850" b="1">
                <a:solidFill>
                  <a:srgbClr val="1A1A1A"/>
                </a:solidFill>
                <a:latin typeface="Raleway"/>
              </a:defRPr>
            </a:pPr>
            <a:r>
              <a:t>100% CONCLUÍDO</a:t>
            </a:r>
          </a:p>
          <a:p>
            <a:pPr>
              <a:spcAft>
                <a:spcPts val="200"/>
              </a:spcAft>
              <a:defRPr sz="850">
                <a:solidFill>
                  <a:srgbClr val="1A1A1A"/>
                </a:solidFill>
                <a:latin typeface="Raleway"/>
              </a:defRPr>
            </a:pPr>
            <a:r>
              <a:t>• Paperclip ativo</a:t>
            </a:r>
          </a:p>
          <a:p>
            <a:pPr>
              <a:spcAft>
                <a:spcPts val="200"/>
              </a:spcAft>
              <a:defRPr sz="850">
                <a:solidFill>
                  <a:srgbClr val="1A1A1A"/>
                </a:solidFill>
                <a:latin typeface="Raleway"/>
              </a:defRPr>
            </a:pPr>
            <a:r>
              <a:t>• Empresa XTE configurada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2084832"/>
            <a:ext cx="1920240" cy="841248"/>
          </a:xfrm>
          <a:prstGeom prst="rect">
            <a:avLst/>
          </a:prstGeom>
          <a:solidFill>
            <a:srgbClr val="FFFFFF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850" b="1">
                <a:solidFill>
                  <a:srgbClr val="1A1A1A"/>
                </a:solidFill>
                <a:latin typeface="Raleway"/>
              </a:defRPr>
            </a:pPr>
            <a:r>
              <a:t>Operação Contínua</a:t>
            </a:r>
          </a:p>
          <a:p>
            <a:pPr>
              <a:spcAft>
                <a:spcPts val="200"/>
              </a:spcAft>
              <a:defRPr sz="850">
                <a:solidFill>
                  <a:srgbClr val="1A1A1A"/>
                </a:solidFill>
                <a:latin typeface="Raleway"/>
              </a:defRPr>
            </a:pPr>
            <a:r>
              <a:t>• Monitoramento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2084832"/>
            <a:ext cx="1920240" cy="841248"/>
          </a:xfrm>
          <a:prstGeom prst="rect">
            <a:avLst/>
          </a:prstGeom>
          <a:solidFill>
            <a:srgbClr val="FFFFFF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850" b="1">
                <a:solidFill>
                  <a:srgbClr val="1A1A1A"/>
                </a:solidFill>
                <a:latin typeface="Raleway"/>
              </a:defRPr>
            </a:pPr>
            <a:r>
              <a:t>Operação Contínua</a:t>
            </a:r>
          </a:p>
          <a:p>
            <a:pPr>
              <a:spcAft>
                <a:spcPts val="200"/>
              </a:spcAft>
              <a:defRPr sz="850">
                <a:solidFill>
                  <a:srgbClr val="1A1A1A"/>
                </a:solidFill>
                <a:latin typeface="Raleway"/>
              </a:defRPr>
            </a:pPr>
            <a:r>
              <a:t>• Manutenção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149840" y="2084832"/>
            <a:ext cx="1920240" cy="841248"/>
          </a:xfrm>
          <a:prstGeom prst="rect">
            <a:avLst/>
          </a:prstGeom>
          <a:solidFill>
            <a:srgbClr val="FFFFFF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850" b="1">
                <a:solidFill>
                  <a:srgbClr val="1A1A1A"/>
                </a:solidFill>
                <a:latin typeface="Raleway"/>
              </a:defRPr>
            </a:pPr>
            <a:r>
              <a:t>Operação Contínua</a:t>
            </a:r>
          </a:p>
          <a:p>
            <a:pPr>
              <a:spcAft>
                <a:spcPts val="200"/>
              </a:spcAft>
              <a:defRPr sz="850">
                <a:solidFill>
                  <a:srgbClr val="1A1A1A"/>
                </a:solidFill>
                <a:latin typeface="Raleway"/>
              </a:defRPr>
            </a:pPr>
            <a:r>
              <a:t>• Governança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980944"/>
            <a:ext cx="3200400" cy="841248"/>
          </a:xfrm>
          <a:prstGeom prst="rect">
            <a:avLst/>
          </a:prstGeom>
          <a:solidFill>
            <a:srgbClr val="FFFFFF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950">
                <a:solidFill>
                  <a:srgbClr val="1A1A1A"/>
                </a:solidFill>
                <a:latin typeface="Raleway"/>
              </a:defRPr>
            </a:pPr>
            <a:r>
              <a:t>WP2 • Extração de Requisitos &amp; BPMN</a:t>
            </a:r>
            <a:br/>
            <a:r>
              <a:t>Tree-RAG sem chunking e fluxos de negócio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0" y="2980944"/>
            <a:ext cx="1920240" cy="841248"/>
          </a:xfrm>
          <a:prstGeom prst="rect">
            <a:avLst/>
          </a:prstGeom>
          <a:solidFill>
            <a:srgbClr val="EDF7ED"/>
          </a:solidFill>
          <a:ln w="1524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850" b="1">
                <a:solidFill>
                  <a:srgbClr val="1A1A1A"/>
                </a:solidFill>
                <a:latin typeface="Raleway"/>
              </a:defRPr>
            </a:pPr>
            <a:r>
              <a:t>100% CONCLUÍDO</a:t>
            </a:r>
          </a:p>
          <a:p>
            <a:pPr>
              <a:spcAft>
                <a:spcPts val="200"/>
              </a:spcAft>
              <a:defRPr sz="850">
                <a:solidFill>
                  <a:srgbClr val="1A1A1A"/>
                </a:solidFill>
                <a:latin typeface="Raleway"/>
              </a:defRPr>
            </a:pPr>
            <a:r>
              <a:t>• Árvore de requisitos</a:t>
            </a:r>
          </a:p>
          <a:p>
            <a:pPr>
              <a:spcAft>
                <a:spcPts val="200"/>
              </a:spcAft>
              <a:defRPr sz="850">
                <a:solidFill>
                  <a:srgbClr val="1A1A1A"/>
                </a:solidFill>
                <a:latin typeface="Raleway"/>
              </a:defRPr>
            </a:pPr>
            <a:r>
              <a:t>• Skill BPMN validada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2980944"/>
            <a:ext cx="1920240" cy="841248"/>
          </a:xfrm>
          <a:prstGeom prst="rect">
            <a:avLst/>
          </a:prstGeom>
          <a:solidFill>
            <a:srgbClr val="FFFFFF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850" b="1">
                <a:solidFill>
                  <a:srgbClr val="1A1A1A"/>
                </a:solidFill>
                <a:latin typeface="Raleway"/>
              </a:defRPr>
            </a:pPr>
            <a:r>
              <a:t>Refinamento</a:t>
            </a:r>
          </a:p>
          <a:p>
            <a:pPr>
              <a:spcAft>
                <a:spcPts val="200"/>
              </a:spcAft>
              <a:defRPr sz="850">
                <a:solidFill>
                  <a:srgbClr val="1A1A1A"/>
                </a:solidFill>
                <a:latin typeface="Raleway"/>
              </a:defRPr>
            </a:pPr>
            <a:r>
              <a:t>• Novos fluxos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2980944"/>
            <a:ext cx="1920240" cy="841248"/>
          </a:xfrm>
          <a:prstGeom prst="rect">
            <a:avLst/>
          </a:prstGeom>
          <a:solidFill>
            <a:srgbClr val="FFFFFF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850" b="1">
                <a:solidFill>
                  <a:srgbClr val="1A1A1A"/>
                </a:solidFill>
                <a:latin typeface="Raleway"/>
              </a:defRPr>
            </a:pPr>
            <a:r>
              <a:t>Suporte a E2E</a:t>
            </a:r>
          </a:p>
          <a:p>
            <a:pPr>
              <a:spcAft>
                <a:spcPts val="200"/>
              </a:spcAft>
              <a:defRPr sz="850">
                <a:solidFill>
                  <a:srgbClr val="1A1A1A"/>
                </a:solidFill>
                <a:latin typeface="Raleway"/>
              </a:defRPr>
            </a:pPr>
            <a:r>
              <a:t>• Validação cruzada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149840" y="2980944"/>
            <a:ext cx="1920240" cy="841248"/>
          </a:xfrm>
          <a:prstGeom prst="rect">
            <a:avLst/>
          </a:prstGeom>
          <a:solidFill>
            <a:srgbClr val="FFFFFF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850" b="1">
                <a:solidFill>
                  <a:srgbClr val="1A1A1A"/>
                </a:solidFill>
                <a:latin typeface="Raleway"/>
              </a:defRPr>
            </a:pPr>
            <a:r>
              <a:t>Migração p/ Mobile</a:t>
            </a:r>
          </a:p>
          <a:p>
            <a:pPr>
              <a:spcAft>
                <a:spcPts val="200"/>
              </a:spcAft>
              <a:defRPr sz="850">
                <a:solidFill>
                  <a:srgbClr val="1A1A1A"/>
                </a:solidFill>
                <a:latin typeface="Raleway"/>
              </a:defRPr>
            </a:pPr>
            <a:r>
              <a:t>• Mapeamento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877056"/>
            <a:ext cx="3200400" cy="841248"/>
          </a:xfrm>
          <a:prstGeom prst="rect">
            <a:avLst/>
          </a:prstGeom>
          <a:solidFill>
            <a:srgbClr val="FFFFFF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950">
                <a:solidFill>
                  <a:srgbClr val="1A1A1A"/>
                </a:solidFill>
                <a:latin typeface="Raleway"/>
              </a:defRPr>
            </a:pPr>
            <a:r>
              <a:t>WP3 • FASE 1: WEB Testes Manuais</a:t>
            </a:r>
            <a:br/>
            <a:r>
              <a:t>Suporte IA para TestLink e Mantis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0" y="3877056"/>
            <a:ext cx="1920240" cy="841248"/>
          </a:xfrm>
          <a:prstGeom prst="rect">
            <a:avLst/>
          </a:prstGeom>
          <a:solidFill>
            <a:srgbClr val="FFF3EE"/>
          </a:solidFill>
          <a:ln w="1905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850" b="1">
                <a:solidFill>
                  <a:srgbClr val="1A1A1A"/>
                </a:solidFill>
                <a:latin typeface="Raleway"/>
              </a:defRPr>
            </a:pPr>
            <a:r>
              <a:t>Em Andamento</a:t>
            </a:r>
          </a:p>
          <a:p>
            <a:pPr>
              <a:spcAft>
                <a:spcPts val="200"/>
              </a:spcAft>
              <a:defRPr sz="850">
                <a:solidFill>
                  <a:srgbClr val="1A1A1A"/>
                </a:solidFill>
                <a:latin typeface="Raleway"/>
              </a:defRPr>
            </a:pPr>
            <a:r>
              <a:t>• Matriz prioridades</a:t>
            </a:r>
          </a:p>
          <a:p>
            <a:pPr>
              <a:spcAft>
                <a:spcPts val="200"/>
              </a:spcAft>
              <a:defRPr sz="850">
                <a:solidFill>
                  <a:srgbClr val="1A1A1A"/>
                </a:solidFill>
                <a:latin typeface="Raleway"/>
              </a:defRPr>
            </a:pPr>
            <a:r>
              <a:t>• Riscos SANASA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3877056"/>
            <a:ext cx="1920240" cy="841248"/>
          </a:xfrm>
          <a:prstGeom prst="rect">
            <a:avLst/>
          </a:prstGeom>
          <a:solidFill>
            <a:srgbClr val="F0F9F0"/>
          </a:solidFill>
          <a:ln>
            <a:solidFill>
              <a:srgbClr val="509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850" b="1">
                <a:solidFill>
                  <a:srgbClr val="1A1A1A"/>
                </a:solidFill>
                <a:latin typeface="Raleway"/>
              </a:defRPr>
            </a:pPr>
            <a:r>
              <a:t>EXECUÇÃO PLENA</a:t>
            </a:r>
          </a:p>
          <a:p>
            <a:pPr>
              <a:spcAft>
                <a:spcPts val="200"/>
              </a:spcAft>
              <a:defRPr sz="850">
                <a:solidFill>
                  <a:srgbClr val="1A1A1A"/>
                </a:solidFill>
                <a:latin typeface="Raleway"/>
              </a:defRPr>
            </a:pPr>
            <a:r>
              <a:t>• Suíte TestLink</a:t>
            </a:r>
          </a:p>
          <a:p>
            <a:pPr>
              <a:spcAft>
                <a:spcPts val="200"/>
              </a:spcAft>
              <a:defRPr sz="850">
                <a:solidFill>
                  <a:srgbClr val="1A1A1A"/>
                </a:solidFill>
                <a:latin typeface="Raleway"/>
              </a:defRPr>
            </a:pPr>
            <a:r>
              <a:t>• Triagem Mantis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3877056"/>
            <a:ext cx="1920240" cy="841248"/>
          </a:xfrm>
          <a:prstGeom prst="rect">
            <a:avLst/>
          </a:prstGeom>
          <a:solidFill>
            <a:srgbClr val="FFFFFF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850" b="1">
                <a:solidFill>
                  <a:srgbClr val="1A1A1A"/>
                </a:solidFill>
                <a:latin typeface="Raleway"/>
              </a:defRPr>
            </a:pPr>
            <a:r>
              <a:t>Estabilização</a:t>
            </a:r>
          </a:p>
          <a:p>
            <a:pPr>
              <a:spcAft>
                <a:spcPts val="200"/>
              </a:spcAft>
              <a:defRPr sz="850">
                <a:solidFill>
                  <a:srgbClr val="1A1A1A"/>
                </a:solidFill>
                <a:latin typeface="Raleway"/>
              </a:defRPr>
            </a:pPr>
            <a:r>
              <a:t>• Homologação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149840" y="3877056"/>
            <a:ext cx="1920240" cy="841248"/>
          </a:xfrm>
          <a:prstGeom prst="rect">
            <a:avLst/>
          </a:prstGeom>
          <a:solidFill>
            <a:srgbClr val="FFFFFF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850" b="1">
                <a:solidFill>
                  <a:srgbClr val="1A1A1A"/>
                </a:solidFill>
                <a:latin typeface="Raleway"/>
              </a:defRPr>
            </a:pPr>
            <a:r>
              <a:t>Fase Concluída</a:t>
            </a:r>
          </a:p>
          <a:p>
            <a:pPr>
              <a:spcAft>
                <a:spcPts val="200"/>
              </a:spcAft>
              <a:defRPr sz="850">
                <a:solidFill>
                  <a:srgbClr val="1A1A1A"/>
                </a:solidFill>
                <a:latin typeface="Raleway"/>
              </a:defRPr>
            </a:pPr>
            <a:r>
              <a:t>• Transição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773168"/>
            <a:ext cx="3200400" cy="841248"/>
          </a:xfrm>
          <a:prstGeom prst="rect">
            <a:avLst/>
          </a:prstGeom>
          <a:solidFill>
            <a:srgbClr val="FFFFFF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950">
                <a:solidFill>
                  <a:srgbClr val="1A1A1A"/>
                </a:solidFill>
                <a:latin typeface="Raleway"/>
              </a:defRPr>
            </a:pPr>
            <a:r>
              <a:t>WP4 • FASE 2: WEB Integração &amp; E2E</a:t>
            </a:r>
            <a:br/>
            <a:r>
              <a:t>Automação autônoma Playwright / Camoufox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0" y="4773168"/>
            <a:ext cx="1920240" cy="841248"/>
          </a:xfrm>
          <a:prstGeom prst="rect">
            <a:avLst/>
          </a:prstGeom>
          <a:solidFill>
            <a:srgbClr val="FFFFFF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850" b="1">
                <a:solidFill>
                  <a:srgbClr val="1A1A1A"/>
                </a:solidFill>
                <a:latin typeface="Raleway"/>
              </a:defRPr>
            </a:pPr>
            <a:r>
              <a:t>Planejamento</a:t>
            </a:r>
          </a:p>
          <a:p>
            <a:pPr>
              <a:spcAft>
                <a:spcPts val="200"/>
              </a:spcAft>
              <a:defRPr sz="850">
                <a:solidFill>
                  <a:srgbClr val="1A1A1A"/>
                </a:solidFill>
                <a:latin typeface="Raleway"/>
              </a:defRPr>
            </a:pPr>
            <a:r>
              <a:t>• Spike arquitetura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4773168"/>
            <a:ext cx="1920240" cy="841248"/>
          </a:xfrm>
          <a:prstGeom prst="rect">
            <a:avLst/>
          </a:prstGeom>
          <a:solidFill>
            <a:srgbClr val="FFFFFF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850" b="1">
                <a:solidFill>
                  <a:srgbClr val="1A1A1A"/>
                </a:solidFill>
                <a:latin typeface="Raleway"/>
              </a:defRPr>
            </a:pPr>
            <a:r>
              <a:t>Desenvolvimento</a:t>
            </a:r>
          </a:p>
          <a:p>
            <a:pPr>
              <a:spcAft>
                <a:spcPts val="200"/>
              </a:spcAft>
              <a:defRPr sz="850">
                <a:solidFill>
                  <a:srgbClr val="1A1A1A"/>
                </a:solidFill>
                <a:latin typeface="Raleway"/>
              </a:defRPr>
            </a:pPr>
            <a:r>
              <a:t>• Conectores E2E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8160" y="4773168"/>
            <a:ext cx="1920240" cy="841248"/>
          </a:xfrm>
          <a:prstGeom prst="rect">
            <a:avLst/>
          </a:prstGeom>
          <a:solidFill>
            <a:srgbClr val="F0F9F0"/>
          </a:solidFill>
          <a:ln>
            <a:solidFill>
              <a:srgbClr val="509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850" b="1">
                <a:solidFill>
                  <a:srgbClr val="1A1A1A"/>
                </a:solidFill>
                <a:latin typeface="Raleway"/>
              </a:defRPr>
            </a:pPr>
            <a:r>
              <a:t>EXECUÇÃO PLENA</a:t>
            </a:r>
          </a:p>
          <a:p>
            <a:pPr>
              <a:spcAft>
                <a:spcPts val="200"/>
              </a:spcAft>
              <a:defRPr sz="850">
                <a:solidFill>
                  <a:srgbClr val="1A1A1A"/>
                </a:solidFill>
                <a:latin typeface="Raleway"/>
              </a:defRPr>
            </a:pPr>
            <a:r>
              <a:t>• Automação E2E</a:t>
            </a:r>
          </a:p>
          <a:p>
            <a:pPr>
              <a:spcAft>
                <a:spcPts val="200"/>
              </a:spcAft>
              <a:defRPr sz="850">
                <a:solidFill>
                  <a:srgbClr val="1A1A1A"/>
                </a:solidFill>
                <a:latin typeface="Raleway"/>
              </a:defRPr>
            </a:pPr>
            <a:r>
              <a:t>• Evidências vídeo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149840" y="4773168"/>
            <a:ext cx="1920240" cy="841248"/>
          </a:xfrm>
          <a:prstGeom prst="rect">
            <a:avLst/>
          </a:prstGeom>
          <a:solidFill>
            <a:srgbClr val="FFFFFF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850" b="1">
                <a:solidFill>
                  <a:srgbClr val="1A1A1A"/>
                </a:solidFill>
                <a:latin typeface="Raleway"/>
              </a:defRPr>
            </a:pPr>
            <a:r>
              <a:t>Fase Concluída</a:t>
            </a:r>
          </a:p>
          <a:p>
            <a:pPr>
              <a:spcAft>
                <a:spcPts val="200"/>
              </a:spcAft>
              <a:defRPr sz="850">
                <a:solidFill>
                  <a:srgbClr val="1A1A1A"/>
                </a:solidFill>
                <a:latin typeface="Raleway"/>
              </a:defRPr>
            </a:pPr>
            <a:r>
              <a:t>• Regressão ativa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5669280"/>
            <a:ext cx="3200400" cy="841248"/>
          </a:xfrm>
          <a:prstGeom prst="rect">
            <a:avLst/>
          </a:prstGeom>
          <a:solidFill>
            <a:srgbClr val="FFFFFF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950">
                <a:solidFill>
                  <a:srgbClr val="1A1A1A"/>
                </a:solidFill>
                <a:latin typeface="Raleway"/>
              </a:defRPr>
            </a:pPr>
            <a:r>
              <a:t>WP5 • FASE 3: MOBILE (Todos)</a:t>
            </a:r>
            <a:br/>
            <a:r>
              <a:t>Testes manuais e automação em apps nativos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0" y="5669280"/>
            <a:ext cx="1920240" cy="841248"/>
          </a:xfrm>
          <a:prstGeom prst="rect">
            <a:avLst/>
          </a:prstGeom>
          <a:solidFill>
            <a:srgbClr val="F5F5F5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850" b="1">
                <a:solidFill>
                  <a:srgbClr val="1A1A1A"/>
                </a:solidFill>
                <a:latin typeface="Raleway"/>
              </a:defRPr>
            </a:pPr>
            <a:r>
              <a:t>Bloqueado</a:t>
            </a:r>
          </a:p>
          <a:p>
            <a:pPr>
              <a:spcAft>
                <a:spcPts val="200"/>
              </a:spcAft>
              <a:defRPr sz="850">
                <a:solidFill>
                  <a:srgbClr val="1A1A1A"/>
                </a:solidFill>
                <a:latin typeface="Raleway"/>
              </a:defRPr>
            </a:pPr>
            <a:r>
              <a:t>(Aguardando WEB)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5669280"/>
            <a:ext cx="1920240" cy="841248"/>
          </a:xfrm>
          <a:prstGeom prst="rect">
            <a:avLst/>
          </a:prstGeom>
          <a:solidFill>
            <a:srgbClr val="F5F5F5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850" b="1">
                <a:solidFill>
                  <a:srgbClr val="1A1A1A"/>
                </a:solidFill>
                <a:latin typeface="Raleway"/>
              </a:defRPr>
            </a:pPr>
            <a:r>
              <a:t>Bloqueado</a:t>
            </a:r>
          </a:p>
          <a:p>
            <a:pPr>
              <a:spcAft>
                <a:spcPts val="200"/>
              </a:spcAft>
              <a:defRPr sz="850">
                <a:solidFill>
                  <a:srgbClr val="1A1A1A"/>
                </a:solidFill>
                <a:latin typeface="Raleway"/>
              </a:defRPr>
            </a:pPr>
            <a:r>
              <a:t>(Aguardando WEB)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8160" y="5669280"/>
            <a:ext cx="1920240" cy="841248"/>
          </a:xfrm>
          <a:prstGeom prst="rect">
            <a:avLst/>
          </a:prstGeom>
          <a:solidFill>
            <a:srgbClr val="FFFFFF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850" b="1">
                <a:solidFill>
                  <a:srgbClr val="1A1A1A"/>
                </a:solidFill>
                <a:latin typeface="Raleway"/>
              </a:defRPr>
            </a:pPr>
            <a:r>
              <a:t>Preparação</a:t>
            </a:r>
          </a:p>
          <a:p>
            <a:pPr>
              <a:spcAft>
                <a:spcPts val="200"/>
              </a:spcAft>
              <a:defRPr sz="850">
                <a:solidFill>
                  <a:srgbClr val="1A1A1A"/>
                </a:solidFill>
                <a:latin typeface="Raleway"/>
              </a:defRPr>
            </a:pPr>
            <a:r>
              <a:t>• Setup device farm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149840" y="5669280"/>
            <a:ext cx="1920240" cy="841248"/>
          </a:xfrm>
          <a:prstGeom prst="rect">
            <a:avLst/>
          </a:prstGeom>
          <a:solidFill>
            <a:srgbClr val="F0F9F0"/>
          </a:solidFill>
          <a:ln>
            <a:solidFill>
              <a:srgbClr val="509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850" b="1">
                <a:solidFill>
                  <a:srgbClr val="1A1A1A"/>
                </a:solidFill>
                <a:latin typeface="Raleway"/>
              </a:defRPr>
            </a:pPr>
            <a:r>
              <a:t>EXECUÇÃO PLENA</a:t>
            </a:r>
          </a:p>
          <a:p>
            <a:pPr>
              <a:spcAft>
                <a:spcPts val="200"/>
              </a:spcAft>
              <a:defRPr sz="850">
                <a:solidFill>
                  <a:srgbClr val="1A1A1A"/>
                </a:solidFill>
                <a:latin typeface="Raleway"/>
              </a:defRPr>
            </a:pPr>
            <a:r>
              <a:t>• Testes Manuais &amp;</a:t>
            </a:r>
          </a:p>
          <a:p>
            <a:pPr>
              <a:spcAft>
                <a:spcPts val="200"/>
              </a:spcAft>
              <a:defRPr sz="850">
                <a:solidFill>
                  <a:srgbClr val="1A1A1A"/>
                </a:solidFill>
                <a:latin typeface="Raleway"/>
              </a:defRPr>
            </a:pPr>
            <a:r>
              <a:t>• E2E Mobile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86868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5722"/>
                </a:solidFill>
                <a:latin typeface="Raleway"/>
              </a:defRPr>
            </a:pPr>
            <a:r>
              <a:t>04 / STATUS DA OPERAÇÃO</a:t>
            </a:r>
          </a:p>
          <a:p>
            <a:pPr>
              <a:defRPr sz="2200" b="1">
                <a:solidFill>
                  <a:srgbClr val="1A1A1A"/>
                </a:solidFill>
                <a:latin typeface="Raleway"/>
              </a:defRPr>
            </a:pPr>
            <a:r>
              <a:t>Tarefas Realizadas</a:t>
            </a:r>
          </a:p>
          <a:p>
            <a:pPr>
              <a:defRPr sz="1100">
                <a:solidFill>
                  <a:srgbClr val="7F7F7F"/>
                </a:solidFill>
                <a:latin typeface="Raleway"/>
              </a:defRPr>
            </a:pPr>
            <a:r>
              <a:t>Estruturação dos Agentes Operacionais, Demandas Paperclip, Entregáveis RF046/RF047 e Decisões de Continuidade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365760"/>
            <a:ext cx="1600200" cy="8696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00" b="1">
                <a:solidFill>
                  <a:srgbClr val="A0A0A0"/>
                </a:solidFill>
                <a:latin typeface="Raleway"/>
              </a:defRPr>
            </a:pPr>
            <a:r>
              <a:t>PROJETO QAI • FÁBRICA DE TESTES X-TESTING  |  ESTEIRA DE QUALIDADE &amp; SANASA  |  WWW.XTESTING.COM.BR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36192"/>
            <a:ext cx="5202936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96112" y="1664208"/>
            <a:ext cx="1097280" cy="4572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55648"/>
            <a:ext cx="4873752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38761D"/>
                </a:solidFill>
                <a:latin typeface="Raleway"/>
              </a:defRPr>
            </a:pPr>
            <a:r>
              <a:t>ESTRUTURA OPERACIONAL • 5 AGENTES</a:t>
            </a:r>
          </a:p>
          <a:p>
            <a:pPr>
              <a:spcAft>
                <a:spcPts val="400"/>
              </a:spcAft>
              <a:defRPr sz="1300" b="1">
                <a:solidFill>
                  <a:srgbClr val="1A1A1A"/>
                </a:solidFill>
                <a:latin typeface="Raleway"/>
              </a:defRPr>
            </a:pPr>
            <a:r>
              <a:t>Criação e Configuração de Agentes</a:t>
            </a:r>
          </a:p>
          <a:p>
            <a:pPr>
              <a:spcAft>
                <a:spcPts val="200"/>
              </a:spcAft>
              <a:defRPr sz="900">
                <a:solidFill>
                  <a:srgbClr val="1A1A1A"/>
                </a:solidFill>
                <a:latin typeface="Raleway"/>
              </a:defRPr>
            </a:pPr>
            <a:r>
              <a:t>•  QAI (CEO): Liderança executiva, governança e validação final da esteira.</a:t>
            </a:r>
          </a:p>
          <a:p>
            <a:pPr>
              <a:spcAft>
                <a:spcPts val="200"/>
              </a:spcAft>
              <a:defRPr sz="900">
                <a:solidFill>
                  <a:srgbClr val="1A1A1A"/>
                </a:solidFill>
                <a:latin typeface="Raleway"/>
              </a:defRPr>
            </a:pPr>
            <a:r>
              <a:t>•  Gerência de Projetos: Planejamento de sprints, gestão de backlog e prazos.</a:t>
            </a:r>
          </a:p>
          <a:p>
            <a:pPr>
              <a:spcAft>
                <a:spcPts val="200"/>
              </a:spcAft>
              <a:defRPr sz="900">
                <a:solidFill>
                  <a:srgbClr val="1A1A1A"/>
                </a:solidFill>
                <a:latin typeface="Raleway"/>
              </a:defRPr>
            </a:pPr>
            <a:r>
              <a:t>•  Análise de Processos: Modelagem BPMN 2.0 dos fluxos e regras de negócio.</a:t>
            </a:r>
          </a:p>
          <a:p>
            <a:pPr>
              <a:spcAft>
                <a:spcPts val="200"/>
              </a:spcAft>
              <a:defRPr sz="900">
                <a:solidFill>
                  <a:srgbClr val="1A1A1A"/>
                </a:solidFill>
                <a:latin typeface="Raleway"/>
              </a:defRPr>
            </a:pPr>
            <a:r>
              <a:t>•  Análise de Testes: Especificação de cenários e suítes completas TestLink.</a:t>
            </a:r>
          </a:p>
          <a:p>
            <a:pPr>
              <a:spcAft>
                <a:spcPts val="200"/>
              </a:spcAft>
              <a:defRPr sz="900">
                <a:solidFill>
                  <a:srgbClr val="1A1A1A"/>
                </a:solidFill>
                <a:latin typeface="Raleway"/>
              </a:defRPr>
            </a:pPr>
            <a:r>
              <a:t>•  Testador: Execução WEB/Playwright, evidências e reporte de defeitos.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4496" y="1536192"/>
            <a:ext cx="5202936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19088" y="1664208"/>
            <a:ext cx="1097280" cy="45720"/>
          </a:xfrm>
          <a:prstGeom prst="rect">
            <a:avLst/>
          </a:prstGeom>
          <a:solidFill>
            <a:srgbClr val="509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755648"/>
            <a:ext cx="4873752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509546"/>
                </a:solidFill>
                <a:latin typeface="Raleway"/>
              </a:defRPr>
            </a:pPr>
            <a:r>
              <a:t>DEMANDA SANASA • OS 2026/2652</a:t>
            </a:r>
          </a:p>
          <a:p>
            <a:pPr>
              <a:spcAft>
                <a:spcPts val="400"/>
              </a:spcAft>
              <a:defRPr sz="1300" b="1">
                <a:solidFill>
                  <a:srgbClr val="1A1A1A"/>
                </a:solidFill>
                <a:latin typeface="Raleway"/>
              </a:defRPr>
            </a:pPr>
            <a:r>
              <a:t>Entregáveis da Demanda RF046/RF047</a:t>
            </a:r>
          </a:p>
          <a:p>
            <a:pPr>
              <a:spcAft>
                <a:spcPts val="200"/>
              </a:spcAft>
              <a:defRPr sz="900">
                <a:solidFill>
                  <a:srgbClr val="1A1A1A"/>
                </a:solidFill>
                <a:latin typeface="Raleway"/>
              </a:defRPr>
            </a:pPr>
            <a:r>
              <a:t>📄 RF046-RF047-Julgamento-Desclassificacao.bpmn: Modelagem BPMN 2.0 formal de regras e saneamento.</a:t>
            </a:r>
          </a:p>
          <a:p>
            <a:pPr>
              <a:spcAft>
                <a:spcPts val="200"/>
              </a:spcAft>
              <a:defRPr sz="900">
                <a:solidFill>
                  <a:srgbClr val="1A1A1A"/>
                </a:solidFill>
                <a:latin typeface="Raleway"/>
              </a:defRPr>
            </a:pPr>
            <a:r>
              <a:t>📄 RF046-RF047-Documentacao-BPMN.md: Documentação técnica completa e conformidade com Lei 14.133.</a:t>
            </a:r>
          </a:p>
          <a:p>
            <a:pPr>
              <a:spcAft>
                <a:spcPts val="200"/>
              </a:spcAft>
              <a:defRPr sz="900">
                <a:solidFill>
                  <a:srgbClr val="1A1A1A"/>
                </a:solidFill>
                <a:latin typeface="Raleway"/>
              </a:defRPr>
            </a:pPr>
            <a:r>
              <a:t>📄 RF046-RF047-Suite-Testes-TestLink.xml: Suíte padronizada com 15 casos estruturados (SANASAPV2-71..85).</a:t>
            </a:r>
          </a:p>
          <a:p>
            <a:pPr>
              <a:spcAft>
                <a:spcPts val="200"/>
              </a:spcAft>
              <a:defRPr sz="900">
                <a:solidFill>
                  <a:srgbClr val="1A1A1A"/>
                </a:solidFill>
                <a:latin typeface="Raleway"/>
              </a:defRPr>
            </a:pPr>
            <a:r>
              <a:t>📄 RF046-RF047-Planilha-Divergencia-SANASA.csv: Matriz de conferência com 27 requisitos avaliados.</a:t>
            </a:r>
          </a:p>
          <a:p>
            <a:pPr>
              <a:defRPr sz="850" u="sng">
                <a:solidFill>
                  <a:srgbClr val="38761D"/>
                </a:solidFill>
                <a:latin typeface="Raleway"/>
              </a:defRPr>
            </a:pPr>
            <a:r>
              <a:t>🔗 Artefatos versionados no repositório GitHub (openclaw-x-integration)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05072"/>
            <a:ext cx="5202936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96112" y="4133088"/>
            <a:ext cx="1097280" cy="45720"/>
          </a:xfrm>
          <a:prstGeom prst="rect">
            <a:avLst/>
          </a:prstGeom>
          <a:solidFill>
            <a:srgbClr val="274E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224528"/>
            <a:ext cx="4873752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274E13"/>
                </a:solidFill>
                <a:latin typeface="Raleway"/>
              </a:defRPr>
            </a:pPr>
            <a:r>
              <a:t>PAINEL DE DEMANDAS NO PAPERCLIP</a:t>
            </a:r>
          </a:p>
          <a:p>
            <a:pPr>
              <a:spcAft>
                <a:spcPts val="400"/>
              </a:spcAft>
              <a:defRPr sz="1300" b="1">
                <a:solidFill>
                  <a:srgbClr val="1A1A1A"/>
                </a:solidFill>
                <a:latin typeface="Raleway"/>
              </a:defRPr>
            </a:pPr>
            <a:r>
              <a:t>33 Tarefas Registradas</a:t>
            </a:r>
          </a:p>
          <a:p>
            <a:pPr>
              <a:defRPr sz="950" b="1">
                <a:solidFill>
                  <a:srgbClr val="38761D"/>
                </a:solidFill>
                <a:latin typeface="Raleway"/>
              </a:defRPr>
            </a:pPr>
            <a:r>
              <a:t>✔ 15 Concluídas (45.5%):</a:t>
            </a:r>
          </a:p>
          <a:p>
            <a:pPr>
              <a:spcAft>
                <a:spcPts val="300"/>
              </a:spcAft>
              <a:defRPr sz="900">
                <a:solidFill>
                  <a:srgbClr val="1A1A1A"/>
                </a:solidFill>
                <a:latin typeface="Raleway"/>
              </a:defRPr>
            </a:pPr>
            <a:r>
              <a:t>Especificações TestLink, BPMNs e planilhas de divergência de 5 OSs (RF002, RF027, RF043, RF050 e RF058/RF061).</a:t>
            </a:r>
          </a:p>
          <a:p>
            <a:pPr>
              <a:defRPr sz="950" b="1">
                <a:solidFill>
                  <a:srgbClr val="FF5722"/>
                </a:solidFill>
                <a:latin typeface="Raleway"/>
              </a:defRPr>
            </a:pPr>
            <a:r>
              <a:t>⛔ 6 Bloqueadas (18.2%):</a:t>
            </a:r>
          </a:p>
          <a:p>
            <a:pPr>
              <a:spcAft>
                <a:spcPts val="300"/>
              </a:spcAft>
              <a:defRPr sz="900">
                <a:solidFill>
                  <a:srgbClr val="1A1A1A"/>
                </a:solidFill>
                <a:latin typeface="Raleway"/>
              </a:defRPr>
            </a:pPr>
            <a:r>
              <a:t>Impedimento por falta de credenciais externas/homologação SANASA (ex.: XTE-18 execução CS-01..10, XTE-16, XTE-23).</a:t>
            </a:r>
          </a:p>
          <a:p>
            <a:pPr>
              <a:defRPr sz="950" b="1">
                <a:solidFill>
                  <a:srgbClr val="156082"/>
                </a:solidFill>
                <a:latin typeface="Raleway"/>
              </a:defRPr>
            </a:pPr>
            <a:r>
              <a:t>⏳ 12 Em Revisão / Backlog (36.3%):</a:t>
            </a:r>
          </a:p>
          <a:p>
            <a:pPr>
              <a:spcAft>
                <a:spcPts val="300"/>
              </a:spcAft>
              <a:defRPr sz="900">
                <a:solidFill>
                  <a:srgbClr val="1A1A1A"/>
                </a:solidFill>
                <a:latin typeface="Raleway"/>
              </a:defRPr>
            </a:pPr>
            <a:r>
              <a:t>Validações técnicas de artefatos, automação de conectores e saneamento de regras da Fase 1.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4496" y="4005072"/>
            <a:ext cx="5202936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19088" y="4133088"/>
            <a:ext cx="1097280" cy="4572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4224528"/>
            <a:ext cx="4873752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F5722"/>
                </a:solidFill>
                <a:latin typeface="Raleway"/>
              </a:defRPr>
            </a:pPr>
            <a:r>
              <a:t>PROATIVIDADE &amp; BYPASS TÉCNICO</a:t>
            </a:r>
          </a:p>
          <a:p>
            <a:pPr>
              <a:spcAft>
                <a:spcPts val="400"/>
              </a:spcAft>
              <a:defRPr sz="1300" b="1">
                <a:solidFill>
                  <a:srgbClr val="1A1A1A"/>
                </a:solidFill>
                <a:latin typeface="Raleway"/>
              </a:defRPr>
            </a:pPr>
            <a:r>
              <a:t>Decisões para Seguir Implementando</a:t>
            </a:r>
          </a:p>
          <a:p>
            <a:pPr>
              <a:defRPr sz="950" b="1">
                <a:solidFill>
                  <a:srgbClr val="1A1A1A"/>
                </a:solidFill>
                <a:latin typeface="Raleway"/>
              </a:defRPr>
            </a:pPr>
            <a:r>
              <a:t>1. Validação WEB via Mocks Locais (Playwright):</a:t>
            </a:r>
          </a:p>
          <a:p>
            <a:pPr>
              <a:spcAft>
                <a:spcPts val="300"/>
              </a:spcAft>
              <a:defRPr sz="900">
                <a:solidFill>
                  <a:srgbClr val="1A1A1A"/>
                </a:solidFill>
                <a:latin typeface="Raleway"/>
              </a:defRPr>
            </a:pPr>
            <a:r>
              <a:t>Execução das suítes de teste diretamente contra os fluxos modelados com emulação/mocks via Playwright, eliminando a espera passiva por liberação de infraestrutura externa.</a:t>
            </a:r>
          </a:p>
          <a:p>
            <a:pPr>
              <a:defRPr sz="950" b="1">
                <a:solidFill>
                  <a:srgbClr val="1A1A1A"/>
                </a:solidFill>
                <a:latin typeface="Raleway"/>
              </a:defRPr>
            </a:pPr>
            <a:r>
              <a:t>2. Pacotes de Exportação Estruturada para o Mantis:</a:t>
            </a:r>
          </a:p>
          <a:p>
            <a:pPr>
              <a:spcAft>
                <a:spcPts val="300"/>
              </a:spcAft>
              <a:defRPr sz="900">
                <a:solidFill>
                  <a:srgbClr val="1A1A1A"/>
                </a:solidFill>
                <a:latin typeface="Raleway"/>
              </a:defRPr>
            </a:pPr>
            <a:r>
              <a:t>Defeitos mapeados (MANTIS-SANASA-1045..1048) gerados em pacotes estruturados (XML/JSON/CSV) pré-formatados para carga em lote imediata assim que as credenciais forem liberadas.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86868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5722"/>
                </a:solidFill>
                <a:latin typeface="Raleway"/>
              </a:defRPr>
            </a:pPr>
            <a:r>
              <a:t>05 / PLANEJAMENTO &amp; GOVERNANÇA</a:t>
            </a:r>
          </a:p>
          <a:p>
            <a:pPr>
              <a:defRPr sz="2200" b="1">
                <a:solidFill>
                  <a:srgbClr val="1A1A1A"/>
                </a:solidFill>
                <a:latin typeface="Raleway"/>
              </a:defRPr>
            </a:pPr>
            <a:r>
              <a:t>Próximas Tarefas</a:t>
            </a:r>
          </a:p>
          <a:p>
            <a:pPr>
              <a:defRPr sz="1100">
                <a:solidFill>
                  <a:srgbClr val="7F7F7F"/>
                </a:solidFill>
                <a:latin typeface="Raleway"/>
              </a:defRPr>
            </a:pPr>
            <a:r>
              <a:t>Mapeamento Operacional, Skills de Compliance Regulatório e Prontidão para Auditoria de IA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365760"/>
            <a:ext cx="1600200" cy="8696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00" b="1">
                <a:solidFill>
                  <a:srgbClr val="A0A0A0"/>
                </a:solidFill>
                <a:latin typeface="Raleway"/>
              </a:defRPr>
            </a:pPr>
            <a:r>
              <a:t>PROJETO QAI • FÁBRICA DE TESTES X-TESTING  |  ESTEIRA DE QUALIDADE &amp; SANASA  |  WWW.XTESTING.COM.BR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3328416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764792"/>
            <a:ext cx="1097280" cy="54864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92808"/>
            <a:ext cx="2962656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38761D"/>
                </a:solidFill>
                <a:latin typeface="Raleway"/>
              </a:defRPr>
            </a:pPr>
            <a:r>
              <a:t>ALINHAMENTO OPERACIONAL</a:t>
            </a:r>
          </a:p>
          <a:p>
            <a:pPr>
              <a:spcAft>
                <a:spcPts val="200"/>
              </a:spcAft>
              <a:defRPr sz="1400" b="1">
                <a:solidFill>
                  <a:srgbClr val="1A1A1A"/>
                </a:solidFill>
                <a:latin typeface="Raleway"/>
              </a:defRPr>
            </a:pPr>
            <a:r>
              <a:t>Detalhamento do Fluxo X-Testing</a:t>
            </a:r>
          </a:p>
          <a:p>
            <a:pPr>
              <a:spcAft>
                <a:spcPts val="1000"/>
              </a:spcAft>
              <a:defRPr sz="850" b="1">
                <a:solidFill>
                  <a:srgbClr val="7F7F7F"/>
                </a:solidFill>
                <a:latin typeface="Raleway"/>
              </a:defRPr>
            </a:pPr>
            <a:r>
              <a:t>Imersão e Diagnóstico da Esteira Atual</a:t>
            </a:r>
          </a:p>
          <a:p>
            <a:pPr>
              <a:spcAft>
                <a:spcPts val="600"/>
              </a:spcAft>
              <a:defRPr sz="900">
                <a:solidFill>
                  <a:srgbClr val="1A1A1A"/>
                </a:solidFill>
                <a:latin typeface="Raleway"/>
              </a:defRPr>
            </a:pPr>
            <a:r>
              <a:t>•  Reunião técnica com a liderança e equipe da X-Testing.</a:t>
            </a:r>
          </a:p>
          <a:p>
            <a:pPr>
              <a:spcAft>
                <a:spcPts val="600"/>
              </a:spcAft>
              <a:defRPr sz="900">
                <a:solidFill>
                  <a:srgbClr val="1A1A1A"/>
                </a:solidFill>
                <a:latin typeface="Raleway"/>
              </a:defRPr>
            </a:pPr>
            <a:r>
              <a:t>•  Mapeamento detalhado da esteira atual de testes manuais e rituais operacionais.</a:t>
            </a:r>
          </a:p>
          <a:p>
            <a:pPr>
              <a:spcAft>
                <a:spcPts val="600"/>
              </a:spcAft>
              <a:defRPr sz="900">
                <a:solidFill>
                  <a:srgbClr val="1A1A1A"/>
                </a:solidFill>
                <a:latin typeface="Raleway"/>
              </a:defRPr>
            </a:pPr>
            <a:r>
              <a:t>•  Levantamento de critérios de aceite, triagem de defeitos e transição para esteira autônoma.</a:t>
            </a:r>
          </a:p>
          <a:p>
            <a:pPr>
              <a:spcAft>
                <a:spcPts val="600"/>
              </a:spcAft>
              <a:defRPr sz="900">
                <a:solidFill>
                  <a:srgbClr val="1A1A1A"/>
                </a:solidFill>
                <a:latin typeface="Raleway"/>
              </a:defRPr>
            </a:pPr>
            <a:r>
              <a:t>•  Mapeamento de critérios de passagem, geração de massa de teste e homologação.</a:t>
            </a:r>
          </a:p>
          <a:p>
            <a:pPr>
              <a:spcAft>
                <a:spcPts val="600"/>
              </a:spcAft>
              <a:defRPr sz="900">
                <a:solidFill>
                  <a:srgbClr val="1A1A1A"/>
                </a:solidFill>
                <a:latin typeface="Raleway"/>
              </a:defRPr>
            </a:pPr>
            <a:r>
              <a:t>•  Identificação de gargalos operacionais e pontos de atrito para automação imediata.</a:t>
            </a:r>
          </a:p>
          <a:p>
            <a:pPr>
              <a:spcAft>
                <a:spcPts val="600"/>
              </a:spcAft>
              <a:defRPr sz="900">
                <a:solidFill>
                  <a:srgbClr val="1A1A1A"/>
                </a:solidFill>
                <a:latin typeface="Raleway"/>
              </a:defRPr>
            </a:pPr>
            <a:r>
              <a:t>•  Definição de interfaces de colaboração entre analistas humanos e agentes de 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600200"/>
            <a:ext cx="3328416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08576" y="1764792"/>
            <a:ext cx="1097280" cy="54864"/>
          </a:xfrm>
          <a:prstGeom prst="rect">
            <a:avLst/>
          </a:prstGeom>
          <a:solidFill>
            <a:srgbClr val="509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1892808"/>
            <a:ext cx="2962656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509546"/>
                </a:solidFill>
                <a:latin typeface="Raleway"/>
              </a:defRPr>
            </a:pPr>
            <a:r>
              <a:t>PRIVACIDADE &amp; SEGURANÇA</a:t>
            </a:r>
          </a:p>
          <a:p>
            <a:pPr>
              <a:spcAft>
                <a:spcPts val="200"/>
              </a:spcAft>
              <a:defRPr sz="1400" b="1">
                <a:solidFill>
                  <a:srgbClr val="1A1A1A"/>
                </a:solidFill>
                <a:latin typeface="Raleway"/>
              </a:defRPr>
            </a:pPr>
            <a:r>
              <a:t>Skills de Compliance dos Agentes</a:t>
            </a:r>
          </a:p>
          <a:p>
            <a:pPr>
              <a:spcAft>
                <a:spcPts val="1000"/>
              </a:spcAft>
              <a:defRPr sz="850" b="1">
                <a:solidFill>
                  <a:srgbClr val="7F7F7F"/>
                </a:solidFill>
                <a:latin typeface="Raleway"/>
              </a:defRPr>
            </a:pPr>
            <a:r>
              <a:t>LGPD • GDPR • HIPAA • CCPA • SOC 2 • ISO 27001 • PCI-DSS</a:t>
            </a:r>
          </a:p>
          <a:p>
            <a:pPr>
              <a:spcAft>
                <a:spcPts val="600"/>
              </a:spcAft>
              <a:defRPr sz="900">
                <a:solidFill>
                  <a:srgbClr val="1A1A1A"/>
                </a:solidFill>
                <a:latin typeface="Raleway"/>
              </a:defRPr>
            </a:pPr>
            <a:r>
              <a:t>•  Pesquisa e arquitetura de skills para comportamento seguro dos agentes.</a:t>
            </a:r>
          </a:p>
          <a:p>
            <a:pPr>
              <a:spcAft>
                <a:spcPts val="600"/>
              </a:spcAft>
              <a:defRPr sz="900">
                <a:solidFill>
                  <a:srgbClr val="1A1A1A"/>
                </a:solidFill>
                <a:latin typeface="Raleway"/>
              </a:defRPr>
            </a:pPr>
            <a:r>
              <a:t>•  Técnicas de Anonimização &amp; Pseudonimização (K2View, Protecto.ai): mascaramento dinâmico, tokenização e hashing irreversível com sal.</a:t>
            </a:r>
          </a:p>
          <a:p>
            <a:pPr>
              <a:spcAft>
                <a:spcPts val="600"/>
              </a:spcAft>
              <a:defRPr sz="900">
                <a:solidFill>
                  <a:srgbClr val="1A1A1A"/>
                </a:solidFill>
                <a:latin typeface="Raleway"/>
              </a:defRPr>
            </a:pPr>
            <a:r>
              <a:t>•  Diretrizes Oficiais ANPD &amp; UFCA: aplicação dos padrões regulatórios brasileiros para desidentificação de dados.</a:t>
            </a:r>
          </a:p>
          <a:p>
            <a:pPr>
              <a:spcAft>
                <a:spcPts val="600"/>
              </a:spcAft>
              <a:defRPr sz="900">
                <a:solidFill>
                  <a:srgbClr val="1A1A1A"/>
                </a:solidFill>
                <a:latin typeface="Raleway"/>
              </a:defRPr>
            </a:pPr>
            <a:r>
              <a:t>•  Tarjamento de Evidências (MavenDoc): censura automatizada de PII (CPFs, nomes, valores) em screenshots e PDFs de teste.</a:t>
            </a:r>
          </a:p>
          <a:p>
            <a:pPr>
              <a:spcAft>
                <a:spcPts val="600"/>
              </a:spcAft>
              <a:defRPr sz="900">
                <a:solidFill>
                  <a:srgbClr val="1A1A1A"/>
                </a:solidFill>
                <a:latin typeface="Raleway"/>
              </a:defRPr>
            </a:pPr>
            <a:r>
              <a:t>•  Coleta Segura &amp; OSINT Ético (OSINT Brasil): higiene de dados para evitar vazamento de credenciais e dados em prompts.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600200"/>
            <a:ext cx="3328416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02752" y="1764792"/>
            <a:ext cx="1097280" cy="54864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1892808"/>
            <a:ext cx="2962656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F5722"/>
                </a:solidFill>
                <a:latin typeface="Raleway"/>
              </a:defRPr>
            </a:pPr>
            <a:r>
              <a:t>GOVERNANÇA REGULATÓRIA</a:t>
            </a:r>
          </a:p>
          <a:p>
            <a:pPr>
              <a:spcAft>
                <a:spcPts val="200"/>
              </a:spcAft>
              <a:defRPr sz="1400" b="1">
                <a:solidFill>
                  <a:srgbClr val="1A1A1A"/>
                </a:solidFill>
                <a:latin typeface="Raleway"/>
              </a:defRPr>
            </a:pPr>
            <a:r>
              <a:t>Prontidão para Auditoria de IA</a:t>
            </a:r>
          </a:p>
          <a:p>
            <a:pPr>
              <a:spcAft>
                <a:spcPts val="1000"/>
              </a:spcAft>
              <a:defRPr sz="850" b="1">
                <a:solidFill>
                  <a:srgbClr val="7F7F7F"/>
                </a:solidFill>
                <a:latin typeface="Raleway"/>
              </a:defRPr>
            </a:pPr>
            <a:r>
              <a:t>SOC 2 AI • IA GDPR • ISO 27001 IA</a:t>
            </a:r>
          </a:p>
          <a:p>
            <a:pPr>
              <a:spcAft>
                <a:spcPts val="600"/>
              </a:spcAft>
              <a:defRPr sz="900">
                <a:solidFill>
                  <a:srgbClr val="1A1A1A"/>
                </a:solidFill>
                <a:latin typeface="Raleway"/>
              </a:defRPr>
            </a:pPr>
            <a:r>
              <a:t>•  SOC 2 AI: Controles de integridade, confidencialidade, auditabilidade de inferências e trilhas de auditoria imutáveis.</a:t>
            </a:r>
          </a:p>
          <a:p>
            <a:pPr>
              <a:spcAft>
                <a:spcPts val="600"/>
              </a:spcAft>
              <a:defRPr sz="900">
                <a:solidFill>
                  <a:srgbClr val="1A1A1A"/>
                </a:solidFill>
                <a:latin typeface="Raleway"/>
              </a:defRPr>
            </a:pPr>
            <a:r>
              <a:t>•  IA GDPR / LGPD: Minimização de dados em prompts, política de zero-data retention com LLMs e explicabilidade das decisões.</a:t>
            </a:r>
          </a:p>
          <a:p>
            <a:pPr>
              <a:spcAft>
                <a:spcPts val="600"/>
              </a:spcAft>
              <a:defRPr sz="900">
                <a:solidFill>
                  <a:srgbClr val="1A1A1A"/>
                </a:solidFill>
                <a:latin typeface="Raleway"/>
              </a:defRPr>
            </a:pPr>
            <a:r>
              <a:t>•  ISO 27001 IA: Gestão de riscos de IA, inventário de modelos e controles de segurança da informação (ref: Mukul975 / GetClaudeSkills).</a:t>
            </a:r>
          </a:p>
          <a:p>
            <a:pPr>
              <a:spcAft>
                <a:spcPts val="600"/>
              </a:spcAft>
              <a:defRPr sz="900">
                <a:solidFill>
                  <a:srgbClr val="1A1A1A"/>
                </a:solidFill>
                <a:latin typeface="Raleway"/>
              </a:defRPr>
            </a:pPr>
            <a:r>
              <a:t>•  Procedural Gates: Barreira de checagem automática que bloqueia qualquer ação externa não-conforme antes da persistência ou envio.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